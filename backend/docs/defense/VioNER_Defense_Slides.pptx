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94" r:id="rId2"/>
    <p:sldId id="388" r:id="rId3"/>
    <p:sldId id="417" r:id="rId4"/>
    <p:sldId id="367" r:id="rId5"/>
    <p:sldId id="368" r:id="rId6"/>
    <p:sldId id="395" r:id="rId7"/>
    <p:sldId id="405" r:id="rId8"/>
    <p:sldId id="396" r:id="rId9"/>
    <p:sldId id="397" r:id="rId10"/>
    <p:sldId id="373" r:id="rId11"/>
    <p:sldId id="399" r:id="rId12"/>
    <p:sldId id="375" r:id="rId13"/>
    <p:sldId id="376" r:id="rId14"/>
    <p:sldId id="377" r:id="rId15"/>
    <p:sldId id="400" r:id="rId16"/>
    <p:sldId id="401" r:id="rId17"/>
    <p:sldId id="410" r:id="rId18"/>
    <p:sldId id="381" r:id="rId19"/>
    <p:sldId id="385" r:id="rId20"/>
    <p:sldId id="386" r:id="rId21"/>
    <p:sldId id="41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1"/>
    <p:restoredTop sz="96461"/>
  </p:normalViewPr>
  <p:slideViewPr>
    <p:cSldViewPr snapToGrid="0" snapToObjects="1">
      <p:cViewPr varScale="1">
        <p:scale>
          <a:sx n="125" d="100"/>
          <a:sy n="125" d="100"/>
        </p:scale>
        <p:origin x="16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Examples</c:v>
                </c:pt>
              </c:strCache>
            </c:strRef>
          </c:tx>
          <c:spPr>
            <a:solidFill>
              <a:srgbClr val="16314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A1-374C-8CC2-547C33368054}"/>
              </c:ext>
            </c:extLst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A1-374C-8CC2-547C333680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D242E"/>
                    </a:solidFill>
                    <a:latin typeface="Calibri"/>
                  </a:defRPr>
                </a:pPr>
                <a:endParaRPr lang="en-E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ACLED stratified diversity sample</c:v>
                </c:pt>
                <c:pt idx="1">
                  <c:v>Template augmentation (rare classes)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35000</c:v>
                </c:pt>
                <c:pt idx="1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A1-374C-8CC2-547C333680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00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2F5F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2F5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A9D8F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9A-A941-AEC2-5CB4322788D7}"/>
              </c:ext>
            </c:extLst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9A-A941-AEC2-5CB4322788D7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9A-A941-AEC2-5CB4322788D7}"/>
              </c:ext>
            </c:extLst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9A-A941-AEC2-5CB4322788D7}"/>
              </c:ext>
            </c:extLst>
          </c:dPt>
          <c:dPt>
            <c:idx val="4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9A-A941-AEC2-5CB4322788D7}"/>
              </c:ext>
            </c:extLst>
          </c:dPt>
          <c:dPt>
            <c:idx val="5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9A-A941-AEC2-5CB4322788D7}"/>
              </c:ext>
            </c:extLst>
          </c:dPt>
          <c:dPt>
            <c:idx val="6"/>
            <c:invertIfNegative val="0"/>
            <c:bubble3D val="0"/>
            <c:spPr>
              <a:solidFill>
                <a:srgbClr val="163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9A-A941-AEC2-5CB4322788D7}"/>
              </c:ext>
            </c:extLst>
          </c:dPt>
          <c:dPt>
            <c:idx val="7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59A-A941-AEC2-5CB4322788D7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D242E"/>
                    </a:solidFill>
                    <a:latin typeface="Calibri"/>
                  </a:defRPr>
                </a:pPr>
                <a:endParaRPr lang="en-E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DATE</c:v>
                </c:pt>
                <c:pt idx="1">
                  <c:v>CITY</c:v>
                </c:pt>
                <c:pt idx="2">
                  <c:v>ACTOR</c:v>
                </c:pt>
                <c:pt idx="3">
                  <c:v>REGION</c:v>
                </c:pt>
                <c:pt idx="4">
                  <c:v>CASUALTIES</c:v>
                </c:pt>
                <c:pt idx="5">
                  <c:v>ACTION</c:v>
                </c:pt>
                <c:pt idx="6">
                  <c:v>DISTRICT</c:v>
                </c:pt>
                <c:pt idx="7">
                  <c:v>VICTIM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0.95599999999999996</c:v>
                </c:pt>
                <c:pt idx="1">
                  <c:v>0.93400000000000005</c:v>
                </c:pt>
                <c:pt idx="2">
                  <c:v>0.92300000000000004</c:v>
                </c:pt>
                <c:pt idx="3">
                  <c:v>0.89100000000000001</c:v>
                </c:pt>
                <c:pt idx="4">
                  <c:v>0.88500000000000001</c:v>
                </c:pt>
                <c:pt idx="5">
                  <c:v>0.86599999999999999</c:v>
                </c:pt>
                <c:pt idx="6">
                  <c:v>0.82599999999999996</c:v>
                </c:pt>
                <c:pt idx="7">
                  <c:v>0.81699999999999995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59A-A941-AEC2-5CB4322788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3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b"/>
        <c:majorGridlines>
          <c:spPr>
            <a:ln w="6350" cap="flat">
              <a:solidFill>
                <a:srgbClr val="E4EAF1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65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6" name="Text 4"/>
          <p:cNvSpPr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ABABA UNIVERSITY  ·  COLLEGE OF NATURAL AND COMPUTATIONAL SCIENCES  ·  DEPARTMENT OF COMPUTER SCIENCE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Discovery from Free Text: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6314E"/>
                </a:solidFill>
                <a:latin typeface="Georgia" pitchFamily="34" charset="0"/>
              </a:rPr>
              <a:t>Extraction of Violent Events</a:t>
            </a:r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event extraction of African violent events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4617720"/>
            <a:ext cx="39319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Binalfew Kassa Mekonnen</a:t>
            </a:r>
            <a:endParaRPr lang="en-US" sz="1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GSE/8274/12  ·  MSc in Computer Science</a:t>
            </a:r>
            <a:endParaRPr lang="en-US" sz="1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Fekade Getahun</a:t>
            </a:r>
            <a:endParaRPr lang="en-US" sz="1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cs typeface="Calibri" pitchFamily="34" charset="-120"/>
              </a:rPr>
              <a:t>Thesis Defense · June 2026</a:t>
            </a:r>
          </a:p>
        </p:txBody>
      </p:sp>
    </p:spTree>
    <p:extLst>
      <p:ext uri="{BB962C8B-B14F-4D97-AF65-F5344CB8AC3E}">
        <p14:creationId xmlns:p14="http://schemas.microsoft.com/office/powerpoint/2010/main" val="266300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97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97480" cy="109728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777240" cy="77724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2" y="2442362"/>
            <a:ext cx="373075" cy="3730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94560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96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10712" y="1828800"/>
            <a:ext cx="2697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4" name="Shape 11"/>
          <p:cNvSpPr/>
          <p:nvPr/>
        </p:nvSpPr>
        <p:spPr>
          <a:xfrm>
            <a:off x="3410712" y="1828800"/>
            <a:ext cx="2697480" cy="1097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5" name="Shape 12"/>
          <p:cNvSpPr/>
          <p:nvPr/>
        </p:nvSpPr>
        <p:spPr>
          <a:xfrm>
            <a:off x="3685032" y="2240280"/>
            <a:ext cx="777240" cy="77724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114" y="2442362"/>
            <a:ext cx="373075" cy="3730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56632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685032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3685032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272784" y="1828800"/>
            <a:ext cx="2697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1" name="Shape 17"/>
          <p:cNvSpPr/>
          <p:nvPr/>
        </p:nvSpPr>
        <p:spPr>
          <a:xfrm>
            <a:off x="6272784" y="1828800"/>
            <a:ext cx="2697480" cy="10972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2" name="Shape 18"/>
          <p:cNvSpPr/>
          <p:nvPr/>
        </p:nvSpPr>
        <p:spPr>
          <a:xfrm>
            <a:off x="6547104" y="2240280"/>
            <a:ext cx="777240" cy="77724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186" y="2442362"/>
            <a:ext cx="373075" cy="3730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918704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6547104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6547104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9134856" y="1828800"/>
            <a:ext cx="2697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8" name="Shape 23"/>
          <p:cNvSpPr/>
          <p:nvPr/>
        </p:nvSpPr>
        <p:spPr>
          <a:xfrm>
            <a:off x="9134856" y="1828800"/>
            <a:ext cx="2697480" cy="10972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9" name="Shape 24"/>
          <p:cNvSpPr/>
          <p:nvPr/>
        </p:nvSpPr>
        <p:spPr>
          <a:xfrm>
            <a:off x="9409176" y="2240280"/>
            <a:ext cx="777240" cy="77724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1258" y="2442362"/>
            <a:ext cx="373075" cy="37307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780776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2" name="Text 26"/>
          <p:cNvSpPr/>
          <p:nvPr/>
        </p:nvSpPr>
        <p:spPr>
          <a:xfrm>
            <a:off x="9409176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Verdict</a:t>
            </a:r>
            <a:endParaRPr lang="en-US" sz="1900" dirty="0"/>
          </a:p>
        </p:txBody>
      </p:sp>
      <p:sp>
        <p:nvSpPr>
          <p:cNvPr id="33" name="Text 27"/>
          <p:cNvSpPr/>
          <p:nvPr/>
        </p:nvSpPr>
        <p:spPr>
          <a:xfrm>
            <a:off x="9409176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&amp; Limitations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166848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Bar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Eyebrow"/>
          <p:cNvSpPr txBox="1"/>
          <p:nvPr/>
        </p:nvSpPr>
        <p:spPr>
          <a:xfrm>
            <a:off x="546100" y="4318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n-US" sz="1150" b="1" spc="200" dirty="0">
                <a:solidFill>
                  <a:srgbClr val="B07A1E"/>
                </a:solidFill>
                <a:latin typeface="Calibri" pitchFamily="34" charset="0"/>
              </a:rPr>
              <a:t>ACT 1 · THE PROBLEM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546100" y="762000"/>
            <a:ext cx="11176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</a:rPr>
              <a:t>Why this problem: a human bottleneck in early warning</a:t>
            </a:r>
          </a:p>
        </p:txBody>
      </p:sp>
      <p:sp>
        <p:nvSpPr>
          <p:cNvPr id="103" name="Framing"/>
          <p:cNvSpPr txBox="1"/>
          <p:nvPr/>
        </p:nvSpPr>
        <p:spPr>
          <a:xfrm>
            <a:off x="546100" y="1905000"/>
            <a:ext cx="11176000" cy="584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5A6675"/>
                </a:solidFill>
                <a:latin typeface="Calibri" pitchFamily="34" charset="0"/>
              </a:rPr>
              <a:t>Across African conflict desks, </a:t>
            </a:r>
            <a:r>
              <a:rPr lang="en-US" sz="1500" b="1" dirty="0">
                <a:solidFill>
                  <a:srgbClr val="16314E"/>
                </a:solidFill>
                <a:latin typeface="Calibri" pitchFamily="34" charset="0"/>
              </a:rPr>
              <a:t>the news published every day far outruns what analysts can read and code by hand</a:t>
            </a:r>
            <a:endParaRPr lang="en-US" sz="1500" dirty="0">
              <a:solidFill>
                <a:srgbClr val="5A6675"/>
              </a:solidFill>
              <a:latin typeface="Calibri" pitchFamily="34" charset="0"/>
            </a:endParaRPr>
          </a:p>
        </p:txBody>
      </p:sp>
      <p:sp>
        <p:nvSpPr>
          <p:cNvPr id="110" name="S1"/>
          <p:cNvSpPr/>
          <p:nvPr/>
        </p:nvSpPr>
        <p:spPr>
          <a:xfrm>
            <a:off x="546100" y="2616200"/>
            <a:ext cx="3403600" cy="10668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1t"/>
          <p:cNvSpPr txBox="1"/>
          <p:nvPr/>
        </p:nvSpPr>
        <p:spPr>
          <a:xfrm>
            <a:off x="723900" y="2794000"/>
            <a:ext cx="3048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14E"/>
                </a:solidFill>
                <a:latin typeface="Georgia" pitchFamily="34" charset="0"/>
              </a:rPr>
              <a:t>200–400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</a:rPr>
              <a:t>news items pulled per desk, nightly</a:t>
            </a:r>
          </a:p>
        </p:txBody>
      </p:sp>
      <p:sp>
        <p:nvSpPr>
          <p:cNvPr id="120" name="Arrow120"/>
          <p:cNvSpPr/>
          <p:nvPr/>
        </p:nvSpPr>
        <p:spPr>
          <a:xfrm>
            <a:off x="4013200" y="2984500"/>
            <a:ext cx="330200" cy="330200"/>
          </a:xfrm>
          <a:prstGeom prst="rightArrow">
            <a:avLst/>
          </a:prstGeom>
          <a:solidFill>
            <a:srgbClr val="C7D2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S2"/>
          <p:cNvSpPr/>
          <p:nvPr/>
        </p:nvSpPr>
        <p:spPr>
          <a:xfrm>
            <a:off x="4394200" y="2616200"/>
            <a:ext cx="3403600" cy="10668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2t"/>
          <p:cNvSpPr txBox="1"/>
          <p:nvPr/>
        </p:nvSpPr>
        <p:spPr>
          <a:xfrm>
            <a:off x="4572000" y="2794000"/>
            <a:ext cx="3048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7A6F"/>
                </a:solidFill>
                <a:latin typeface="Georgia" pitchFamily="34" charset="0"/>
              </a:rPr>
              <a:t>15–40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</a:rPr>
              <a:t>are violent events needing structured coding</a:t>
            </a:r>
          </a:p>
        </p:txBody>
      </p:sp>
      <p:sp>
        <p:nvSpPr>
          <p:cNvPr id="121" name="Arrow121"/>
          <p:cNvSpPr/>
          <p:nvPr/>
        </p:nvSpPr>
        <p:spPr>
          <a:xfrm>
            <a:off x="7861300" y="2984500"/>
            <a:ext cx="330200" cy="330200"/>
          </a:xfrm>
          <a:prstGeom prst="rightArrow">
            <a:avLst/>
          </a:prstGeom>
          <a:solidFill>
            <a:srgbClr val="C7D2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3"/>
          <p:cNvSpPr/>
          <p:nvPr/>
        </p:nvSpPr>
        <p:spPr>
          <a:xfrm>
            <a:off x="8242300" y="2616200"/>
            <a:ext cx="3403600" cy="10668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3t"/>
          <p:cNvSpPr txBox="1"/>
          <p:nvPr/>
        </p:nvSpPr>
        <p:spPr>
          <a:xfrm>
            <a:off x="8420100" y="2794000"/>
            <a:ext cx="3048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7A1E"/>
                </a:solidFill>
                <a:latin typeface="Georgia" pitchFamily="34" charset="0"/>
              </a:rPr>
              <a:t>~ one quarter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</a:rPr>
              <a:t>cleared by midday — the rest rolls over</a:t>
            </a:r>
          </a:p>
        </p:txBody>
      </p:sp>
      <p:sp>
        <p:nvSpPr>
          <p:cNvPr id="130" name="GapL"/>
          <p:cNvSpPr/>
          <p:nvPr/>
        </p:nvSpPr>
        <p:spPr>
          <a:xfrm>
            <a:off x="546100" y="3962400"/>
            <a:ext cx="5397500" cy="1524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GapLbar"/>
          <p:cNvSpPr/>
          <p:nvPr/>
        </p:nvSpPr>
        <p:spPr>
          <a:xfrm>
            <a:off x="546100" y="3962400"/>
            <a:ext cx="76200" cy="152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GapR"/>
          <p:cNvSpPr/>
          <p:nvPr/>
        </p:nvSpPr>
        <p:spPr>
          <a:xfrm>
            <a:off x="6235700" y="3962400"/>
            <a:ext cx="5397500" cy="1524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3" name="GapRbar"/>
          <p:cNvSpPr/>
          <p:nvPr/>
        </p:nvSpPr>
        <p:spPr>
          <a:xfrm>
            <a:off x="6235700" y="3962400"/>
            <a:ext cx="76200" cy="1524000"/>
          </a:xfrm>
          <a:prstGeom prst="rect">
            <a:avLst/>
          </a:prstGeom>
          <a:solidFill>
            <a:srgbClr val="B0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4" name="GapLt"/>
          <p:cNvSpPr txBox="1"/>
          <p:nvPr/>
        </p:nvSpPr>
        <p:spPr>
          <a:xfrm>
            <a:off x="825500" y="4140200"/>
            <a:ext cx="4889500" cy="1168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spc="150" dirty="0">
                <a:solidFill>
                  <a:srgbClr val="1F7A6F"/>
                </a:solidFill>
                <a:latin typeface="Calibri" pitchFamily="34" charset="0"/>
              </a:rPr>
              <a:t>THE THROUGHPUT ISSUE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</a:rPr>
              <a:t>Inflow dwarfs human reading capacity. </a:t>
            </a:r>
            <a:r>
              <a:rPr lang="en-US" sz="1250" dirty="0">
                <a:solidFill>
                  <a:srgbClr val="5A6675"/>
                </a:solidFill>
                <a:latin typeface="Calibri" pitchFamily="34" charset="0"/>
              </a:rPr>
              <a:t>Even at full attention, news inflow outruns human reading, extraction and recording skills</a:t>
            </a:r>
          </a:p>
        </p:txBody>
      </p:sp>
      <p:sp>
        <p:nvSpPr>
          <p:cNvPr id="135" name="GapRt"/>
          <p:cNvSpPr txBox="1"/>
          <p:nvPr/>
        </p:nvSpPr>
        <p:spPr>
          <a:xfrm>
            <a:off x="6515100" y="4140200"/>
            <a:ext cx="4889500" cy="1168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spc="150" dirty="0">
                <a:solidFill>
                  <a:srgbClr val="B07A1E"/>
                </a:solidFill>
                <a:latin typeface="Calibri" pitchFamily="34" charset="0"/>
              </a:rPr>
              <a:t>THE CONSISTENCY ISSUE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</a:rPr>
              <a:t>Two analysts code the same article differently — </a:t>
            </a:r>
            <a:r>
              <a:rPr lang="en-US" sz="1250" dirty="0">
                <a:solidFill>
                  <a:srgbClr val="5A6675"/>
                </a:solidFill>
                <a:latin typeface="Calibri" pitchFamily="34" charset="0"/>
              </a:rPr>
              <a:t>battle vs. violence-against-civilians, city vs. district, attributed vs. unknown fatalities. </a:t>
            </a:r>
          </a:p>
        </p:txBody>
      </p:sp>
      <p:sp>
        <p:nvSpPr>
          <p:cNvPr id="136" name="Loop"/>
          <p:cNvSpPr txBox="1"/>
          <p:nvPr/>
        </p:nvSpPr>
        <p:spPr>
          <a:xfrm>
            <a:off x="546100" y="5613400"/>
            <a:ext cx="110871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</a:rPr>
              <a:t>↻  The two issues feed each other:</a:t>
            </a:r>
            <a:r>
              <a:rPr lang="en-US" sz="1200" dirty="0">
                <a:solidFill>
                  <a:srgbClr val="5A6675"/>
                </a:solidFill>
                <a:latin typeface="Calibri" pitchFamily="34" charset="0"/>
              </a:rPr>
              <a:t>  more analysts to clear backlog → less consistency;  tighter manual rules → more backlog.</a:t>
            </a:r>
          </a:p>
        </p:txBody>
      </p:sp>
    </p:spTree>
    <p:extLst>
      <p:ext uri="{BB962C8B-B14F-4D97-AF65-F5344CB8AC3E}">
        <p14:creationId xmlns:p14="http://schemas.microsoft.com/office/powerpoint/2010/main" val="2563090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monitoring is the operational backbone of African peace &amp; security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at AU-CEWS convert raw news into structured event databases — one row per incident — that drive peacekeeping mandates, humanitarian prioritisation and early warning.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82296" cy="1371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2350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30,000+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68096" y="303580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events reported across African outlets per year (ACLED, every year since 2020)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2240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2" name="Shape 10"/>
          <p:cNvSpPr/>
          <p:nvPr/>
        </p:nvSpPr>
        <p:spPr>
          <a:xfrm>
            <a:off x="3401568" y="2240280"/>
            <a:ext cx="82296" cy="13716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3" name="Text 11"/>
          <p:cNvSpPr/>
          <p:nvPr/>
        </p:nvSpPr>
        <p:spPr>
          <a:xfrm>
            <a:off x="3602736" y="2331720"/>
            <a:ext cx="2350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21024" y="303580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armed conflicts on the continent in any given year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4496" y="2240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6" name="Shape 14"/>
          <p:cNvSpPr/>
          <p:nvPr/>
        </p:nvSpPr>
        <p:spPr>
          <a:xfrm>
            <a:off x="6254496" y="2240280"/>
            <a:ext cx="82296" cy="1371600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7" name="Text 15"/>
          <p:cNvSpPr/>
          <p:nvPr/>
        </p:nvSpPr>
        <p:spPr>
          <a:xfrm>
            <a:off x="6455664" y="2331720"/>
            <a:ext cx="2350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 / 54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73952" y="303580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countries with ACLED-tracked events in 2024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07424" y="2240280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0" name="Shape 18"/>
          <p:cNvSpPr/>
          <p:nvPr/>
        </p:nvSpPr>
        <p:spPr>
          <a:xfrm>
            <a:off x="9107424" y="2240280"/>
            <a:ext cx="82296" cy="137160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1" name="Text 19"/>
          <p:cNvSpPr/>
          <p:nvPr/>
        </p:nvSpPr>
        <p:spPr>
          <a:xfrm>
            <a:off x="9308592" y="23317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326880" y="303580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mass-casualty events in 2024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6949440" cy="2286000"/>
          </a:xfrm>
          <a:prstGeom prst="rect">
            <a:avLst/>
          </a:prstGeom>
          <a:solidFill>
            <a:srgbClr val="F2F5F8"/>
          </a:solidFill>
          <a:ln w="12700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24" name="Text 22"/>
          <p:cNvSpPr/>
          <p:nvPr/>
        </p:nvSpPr>
        <p:spPr>
          <a:xfrm>
            <a:off x="77724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CONSUMES THE STRUCTURED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407408"/>
            <a:ext cx="649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Peace &amp; Security Council</a:t>
            </a: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peacekeeping mandates under Art. 12 of the PSC Protocol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AU-CEWS</a:t>
            </a: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continental and regional early-warning reporting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UNHCR </a:t>
            </a: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relief prioritisation, refugee planning, mediation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&amp; civil society</a:t>
            </a: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conflict studies, Crisis Group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26680" y="3886200"/>
            <a:ext cx="3913632" cy="2286000"/>
          </a:xfrm>
          <a:prstGeom prst="rect">
            <a:avLst/>
          </a:prstGeom>
          <a:solidFill>
            <a:srgbClr val="16314E"/>
          </a:solidFill>
          <a:ln/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7" name="Shape 25"/>
          <p:cNvSpPr/>
          <p:nvPr/>
        </p:nvSpPr>
        <p:spPr>
          <a:xfrm>
            <a:off x="7726680" y="3886200"/>
            <a:ext cx="82296" cy="22860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8" name="Text 26"/>
          <p:cNvSpPr/>
          <p:nvPr/>
        </p:nvSpPr>
        <p:spPr>
          <a:xfrm>
            <a:off x="7973568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MONITORING LAGS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73568" y="4407408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Sudan, April 2023: 200+ attacks in the first week of the SAF–RSF war were coded days to weeks late as analysts cleared backlog — responders operated on stale data in the critical window.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72676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bottleneck: article-to-record conversion is manual analyst time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755648" cy="960120"/>
          </a:xfrm>
          <a:prstGeom prst="rect">
            <a:avLst/>
          </a:prstGeom>
          <a:solidFill>
            <a:srgbClr val="F2F5F8"/>
          </a:solidFill>
          <a:ln w="12700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7" name="Text 5"/>
          <p:cNvSpPr/>
          <p:nvPr/>
        </p:nvSpPr>
        <p:spPr>
          <a:xfrm>
            <a:off x="621792" y="1746504"/>
            <a:ext cx="16093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full article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2171700"/>
            <a:ext cx="109728" cy="0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9" name="Shape 7"/>
          <p:cNvSpPr/>
          <p:nvPr/>
        </p:nvSpPr>
        <p:spPr>
          <a:xfrm>
            <a:off x="2414016" y="1691640"/>
            <a:ext cx="1755648" cy="960120"/>
          </a:xfrm>
          <a:prstGeom prst="rect">
            <a:avLst/>
          </a:prstGeom>
          <a:solidFill>
            <a:srgbClr val="F2F5F8"/>
          </a:solidFill>
          <a:ln w="12700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10" name="Text 8"/>
          <p:cNvSpPr/>
          <p:nvPr/>
        </p:nvSpPr>
        <p:spPr>
          <a:xfrm>
            <a:off x="2487168" y="1746504"/>
            <a:ext cx="16093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classify actors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9664" y="2171700"/>
            <a:ext cx="109728" cy="0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12" name="Shape 10"/>
          <p:cNvSpPr/>
          <p:nvPr/>
        </p:nvSpPr>
        <p:spPr>
          <a:xfrm>
            <a:off x="4279392" y="1691640"/>
            <a:ext cx="1755648" cy="960120"/>
          </a:xfrm>
          <a:prstGeom prst="rect">
            <a:avLst/>
          </a:prstGeom>
          <a:solidFill>
            <a:srgbClr val="F2F5F8"/>
          </a:solidFill>
          <a:ln w="12700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13" name="Text 11"/>
          <p:cNvSpPr/>
          <p:nvPr/>
        </p:nvSpPr>
        <p:spPr>
          <a:xfrm>
            <a:off x="4352544" y="1746504"/>
            <a:ext cx="16093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aliases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171700"/>
            <a:ext cx="109728" cy="0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15" name="Shape 13"/>
          <p:cNvSpPr/>
          <p:nvPr/>
        </p:nvSpPr>
        <p:spPr>
          <a:xfrm>
            <a:off x="6144768" y="1691640"/>
            <a:ext cx="1755648" cy="960120"/>
          </a:xfrm>
          <a:prstGeom prst="rect">
            <a:avLst/>
          </a:prstGeom>
          <a:solidFill>
            <a:srgbClr val="F2F5F8"/>
          </a:solidFill>
          <a:ln w="12700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16" name="Text 14"/>
          <p:cNvSpPr/>
          <p:nvPr/>
        </p:nvSpPr>
        <p:spPr>
          <a:xfrm>
            <a:off x="6217920" y="1746504"/>
            <a:ext cx="16093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location &amp; date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00416" y="2171700"/>
            <a:ext cx="109728" cy="0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18" name="Shape 16"/>
          <p:cNvSpPr/>
          <p:nvPr/>
        </p:nvSpPr>
        <p:spPr>
          <a:xfrm>
            <a:off x="8010144" y="1691640"/>
            <a:ext cx="1755648" cy="960120"/>
          </a:xfrm>
          <a:prstGeom prst="rect">
            <a:avLst/>
          </a:prstGeom>
          <a:solidFill>
            <a:srgbClr val="F2F5F8"/>
          </a:solidFill>
          <a:ln w="12700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19" name="Text 17"/>
          <p:cNvSpPr/>
          <p:nvPr/>
        </p:nvSpPr>
        <p:spPr>
          <a:xfrm>
            <a:off x="8083296" y="1746504"/>
            <a:ext cx="16093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casualties + qualifiers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65792" y="2171700"/>
            <a:ext cx="109728" cy="0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21" name="Shape 19"/>
          <p:cNvSpPr/>
          <p:nvPr/>
        </p:nvSpPr>
        <p:spPr>
          <a:xfrm>
            <a:off x="9875520" y="1691640"/>
            <a:ext cx="1755648" cy="960120"/>
          </a:xfrm>
          <a:prstGeom prst="rect">
            <a:avLst/>
          </a:prstGeom>
          <a:solidFill>
            <a:srgbClr val="16314E"/>
          </a:solidFill>
          <a:ln w="12700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22" name="Text 20"/>
          <p:cNvSpPr/>
          <p:nvPr/>
        </p:nvSpPr>
        <p:spPr>
          <a:xfrm>
            <a:off x="9948672" y="1746504"/>
            <a:ext cx="16093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event &amp; log row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2788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manual. Mean cost: 15–25 minutes per article; multi-event roundups take 45+.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ECONOMICS, MULTIPLIED OUT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2286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82296" cy="13258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7" name="Text 25"/>
          <p:cNvSpPr/>
          <p:nvPr/>
        </p:nvSpPr>
        <p:spPr>
          <a:xfrm>
            <a:off x="749808" y="3794760"/>
            <a:ext cx="1938528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30,000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68096" y="4472330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/ year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907792" y="4366260"/>
            <a:ext cx="356616" cy="0"/>
          </a:xfrm>
          <a:prstGeom prst="line">
            <a:avLst/>
          </a:prstGeom>
          <a:noFill/>
          <a:ln w="25400">
            <a:solidFill>
              <a:srgbClr val="5A6675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30" name="Shape 28"/>
          <p:cNvSpPr/>
          <p:nvPr/>
        </p:nvSpPr>
        <p:spPr>
          <a:xfrm>
            <a:off x="3337560" y="3703320"/>
            <a:ext cx="2286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31" name="Shape 29"/>
          <p:cNvSpPr/>
          <p:nvPr/>
        </p:nvSpPr>
        <p:spPr>
          <a:xfrm>
            <a:off x="3337560" y="3703320"/>
            <a:ext cx="82296" cy="13258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32" name="Text 30"/>
          <p:cNvSpPr/>
          <p:nvPr/>
        </p:nvSpPr>
        <p:spPr>
          <a:xfrm>
            <a:off x="3538728" y="3794760"/>
            <a:ext cx="1938528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20 min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557016" y="4472330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article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96712" y="4366260"/>
            <a:ext cx="356616" cy="0"/>
          </a:xfrm>
          <a:prstGeom prst="line">
            <a:avLst/>
          </a:prstGeom>
          <a:noFill/>
          <a:ln w="25400">
            <a:solidFill>
              <a:srgbClr val="5A6675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35" name="Shape 33"/>
          <p:cNvSpPr/>
          <p:nvPr/>
        </p:nvSpPr>
        <p:spPr>
          <a:xfrm>
            <a:off x="6126480" y="3703320"/>
            <a:ext cx="2286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36" name="Shape 34"/>
          <p:cNvSpPr/>
          <p:nvPr/>
        </p:nvSpPr>
        <p:spPr>
          <a:xfrm>
            <a:off x="6126480" y="3703320"/>
            <a:ext cx="82296" cy="13258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37" name="Text 35"/>
          <p:cNvSpPr/>
          <p:nvPr/>
        </p:nvSpPr>
        <p:spPr>
          <a:xfrm>
            <a:off x="6327648" y="3794760"/>
            <a:ext cx="1938528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10,000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345936" y="4472330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analyst-hours / yr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485632" y="4366260"/>
            <a:ext cx="356616" cy="0"/>
          </a:xfrm>
          <a:prstGeom prst="line">
            <a:avLst/>
          </a:prstGeom>
          <a:noFill/>
          <a:ln w="25400">
            <a:solidFill>
              <a:srgbClr val="5A6675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40" name="Shape 38"/>
          <p:cNvSpPr/>
          <p:nvPr/>
        </p:nvSpPr>
        <p:spPr>
          <a:xfrm>
            <a:off x="8915400" y="3703320"/>
            <a:ext cx="2286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41" name="Shape 39"/>
          <p:cNvSpPr/>
          <p:nvPr/>
        </p:nvSpPr>
        <p:spPr>
          <a:xfrm>
            <a:off x="8915400" y="3703320"/>
            <a:ext cx="82296" cy="1325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42" name="Text 40"/>
          <p:cNvSpPr/>
          <p:nvPr/>
        </p:nvSpPr>
        <p:spPr>
          <a:xfrm>
            <a:off x="9116568" y="3794760"/>
            <a:ext cx="1938528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5.5 FTE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9134856" y="4472330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analysts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97172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automating this is harder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3152" cy="1481328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8" name="Shape 6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035454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44752" y="18196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 absent from pretraining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44752" y="2368296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JNIM, RSF are unknown or generic-ORG to spaCy/BERT-NER; groups splinter and rebrand (ADF → ISCAP).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279392" y="1691640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3" name="Shape 10"/>
          <p:cNvSpPr/>
          <p:nvPr/>
        </p:nvSpPr>
        <p:spPr>
          <a:xfrm>
            <a:off x="4279392" y="1691640"/>
            <a:ext cx="73152" cy="148132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4" name="Shape 11"/>
          <p:cNvSpPr/>
          <p:nvPr/>
        </p:nvSpPr>
        <p:spPr>
          <a:xfrm>
            <a:off x="4480560" y="1892808"/>
            <a:ext cx="548640" cy="54864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206" y="2035454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75504" y="18196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175504" y="2368296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 of tokens are non-entity O; VICTIM, ACTION and CASUALTIES — the entities that matter most — share ~2–3%.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8010144" y="1691640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9" name="Shape 15"/>
          <p:cNvSpPr/>
          <p:nvPr/>
        </p:nvSpPr>
        <p:spPr>
          <a:xfrm>
            <a:off x="8010144" y="1691640"/>
            <a:ext cx="73152" cy="14813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0" name="Shape 16"/>
          <p:cNvSpPr/>
          <p:nvPr/>
        </p:nvSpPr>
        <p:spPr>
          <a:xfrm>
            <a:off x="8211312" y="1892808"/>
            <a:ext cx="548640" cy="54864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958" y="2035454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06256" y="18196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ambiguity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906256" y="2368296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"Fighting in Goma" — city, district or region? Kano, Lagos, Kinshasa all double as multiple admin levels.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48640" y="3319272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5" name="Shape 20"/>
          <p:cNvSpPr/>
          <p:nvPr/>
        </p:nvSpPr>
        <p:spPr>
          <a:xfrm>
            <a:off x="548640" y="3319272"/>
            <a:ext cx="73152" cy="1481328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6" name="Shape 21"/>
          <p:cNvSpPr/>
          <p:nvPr/>
        </p:nvSpPr>
        <p:spPr>
          <a:xfrm>
            <a:off x="749808" y="3520440"/>
            <a:ext cx="548640" cy="54864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" y="3663086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44752" y="34472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Role-distinguished output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444752" y="3995928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entity lists collapse perpetrator and victim into ORG/PER. Consumers need role-distinguished records.</a:t>
            </a:r>
            <a:endParaRPr lang="en-US" sz="1080" dirty="0"/>
          </a:p>
        </p:txBody>
      </p:sp>
      <p:sp>
        <p:nvSpPr>
          <p:cNvPr id="30" name="Shape 24"/>
          <p:cNvSpPr/>
          <p:nvPr/>
        </p:nvSpPr>
        <p:spPr>
          <a:xfrm>
            <a:off x="4279392" y="3319272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31" name="Shape 25"/>
          <p:cNvSpPr/>
          <p:nvPr/>
        </p:nvSpPr>
        <p:spPr>
          <a:xfrm>
            <a:off x="4279392" y="3319272"/>
            <a:ext cx="73152" cy="14813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32" name="Shape 26"/>
          <p:cNvSpPr/>
          <p:nvPr/>
        </p:nvSpPr>
        <p:spPr>
          <a:xfrm>
            <a:off x="4480560" y="3520440"/>
            <a:ext cx="548640" cy="54864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206" y="3663086"/>
            <a:ext cx="263347" cy="26334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75504" y="34472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Multi-event articles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5175504" y="3995928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weekly roundup can pack three incidents with three actor–location–date combinations.</a:t>
            </a:r>
            <a:endParaRPr lang="en-US" sz="1080" dirty="0"/>
          </a:p>
        </p:txBody>
      </p:sp>
      <p:sp>
        <p:nvSpPr>
          <p:cNvPr id="36" name="Shape 29"/>
          <p:cNvSpPr/>
          <p:nvPr/>
        </p:nvSpPr>
        <p:spPr>
          <a:xfrm>
            <a:off x="8010144" y="3319272"/>
            <a:ext cx="3611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37" name="Shape 30"/>
          <p:cNvSpPr/>
          <p:nvPr/>
        </p:nvSpPr>
        <p:spPr>
          <a:xfrm>
            <a:off x="8010144" y="3319272"/>
            <a:ext cx="73152" cy="148132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38" name="Shape 31"/>
          <p:cNvSpPr/>
          <p:nvPr/>
        </p:nvSpPr>
        <p:spPr>
          <a:xfrm>
            <a:off x="8211312" y="3520440"/>
            <a:ext cx="548640" cy="54864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3958" y="3663086"/>
            <a:ext cx="263347" cy="26334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06256" y="34472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14E"/>
                </a:solidFill>
                <a:latin typeface="Calibri" pitchFamily="34" charset="0"/>
                <a:cs typeface="Calibri" pitchFamily="34" charset="-120"/>
              </a:rPr>
              <a:t>Event Distribution Format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8906256" y="3995928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copy, local outlets, citizen journalism — phrasing varies wildly.</a:t>
            </a:r>
            <a:endParaRPr lang="en-US" sz="1080" dirty="0"/>
          </a:p>
        </p:txBody>
      </p:sp>
      <p:sp>
        <p:nvSpPr>
          <p:cNvPr id="42" name="Shape 34"/>
          <p:cNvSpPr/>
          <p:nvPr/>
        </p:nvSpPr>
        <p:spPr>
          <a:xfrm>
            <a:off x="548640" y="5074920"/>
            <a:ext cx="11091672" cy="1188720"/>
          </a:xfrm>
          <a:prstGeom prst="rect">
            <a:avLst/>
          </a:prstGeom>
          <a:solidFill>
            <a:srgbClr val="16314E"/>
          </a:solidFill>
          <a:ln/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43" name="Shape 35"/>
          <p:cNvSpPr/>
          <p:nvPr/>
        </p:nvSpPr>
        <p:spPr>
          <a:xfrm>
            <a:off x="548640" y="5074920"/>
            <a:ext cx="82296" cy="118872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44" name="Text 36"/>
          <p:cNvSpPr/>
          <p:nvPr/>
        </p:nvSpPr>
        <p:spPr>
          <a:xfrm>
            <a:off x="804672" y="5212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pain point:  </a:t>
            </a:r>
            <a:r>
              <a:rPr lang="en-US" sz="14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 recover the easy entities (dates, locations) and systematically miss the ones analysts read articles for — who was harmed, what was done, how many died.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859863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current landscape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156560"/>
              </p:ext>
            </p:extLst>
          </p:nvPr>
        </p:nvGraphicFramePr>
        <p:xfrm>
          <a:off x="548640" y="1691640"/>
          <a:ext cx="11091672" cy="2724912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Structured,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Recovers rare entities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+ aggregatable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Analyst-deployable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hand-coded gold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98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right shape, conflict focused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98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humans read everything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98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actor file, human-facing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extraction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BERT 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spaCy, HF heads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role distinction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misses VICTIM/ACTION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KB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model ≠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/ Others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98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unverifiable grounding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98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inconsistent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opaque, no 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cost · sovereignty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Taye Abdulkadir (2019)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CoreNLP + Weka · African predecessor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98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small annotated corpus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imbalance handling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KB layer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stops at model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082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936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operational gaps — each independently breaks the chain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82296" cy="1874520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DE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166360" y="1938528"/>
            <a:ext cx="566928" cy="566928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761" y="2085929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1920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role-distinguished records — fast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645920" y="2606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tools give flat or wrong-schema output. The analyst can't get perpetrator-vs-victim records at usable speed.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81344" y="173736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4" name="Shape 11"/>
          <p:cNvSpPr/>
          <p:nvPr/>
        </p:nvSpPr>
        <p:spPr>
          <a:xfrm>
            <a:off x="6181344" y="1737360"/>
            <a:ext cx="82296" cy="18745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5" name="Text 12"/>
          <p:cNvSpPr/>
          <p:nvPr/>
        </p:nvSpPr>
        <p:spPr>
          <a:xfrm>
            <a:off x="6409944" y="192024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DE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6" name="Shape 13"/>
          <p:cNvSpPr/>
          <p:nvPr/>
        </p:nvSpPr>
        <p:spPr>
          <a:xfrm>
            <a:off x="10799064" y="1938528"/>
            <a:ext cx="566928" cy="566928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465" y="2085929"/>
            <a:ext cx="272125" cy="2721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78624" y="1920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of the critical rare entities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278624" y="2606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NER finds dates and cities, then misses victims, casualty counts and action verbs — so the analyst still reads every article. Automation saves nothing.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3776472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1" name="Shape 17"/>
          <p:cNvSpPr/>
          <p:nvPr/>
        </p:nvSpPr>
        <p:spPr>
          <a:xfrm>
            <a:off x="548640" y="3776472"/>
            <a:ext cx="82296" cy="18745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2" name="Text 18"/>
          <p:cNvSpPr/>
          <p:nvPr/>
        </p:nvSpPr>
        <p:spPr>
          <a:xfrm>
            <a:off x="777240" y="395935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DE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23" name="Shape 19"/>
          <p:cNvSpPr/>
          <p:nvPr/>
        </p:nvSpPr>
        <p:spPr>
          <a:xfrm>
            <a:off x="5166360" y="3977640"/>
            <a:ext cx="566928" cy="566928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761" y="4125041"/>
            <a:ext cx="272125" cy="27212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45920" y="39593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you can trust and aggregate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1645920" y="46451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"Al-Shabaab" under five spellings counts as five actors; implausible extractions carry no warning. Downstream analytics over- or under-counts.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181344" y="3776472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8" name="Shape 23"/>
          <p:cNvSpPr/>
          <p:nvPr/>
        </p:nvSpPr>
        <p:spPr>
          <a:xfrm>
            <a:off x="6181344" y="3776472"/>
            <a:ext cx="82296" cy="187452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9" name="Text 24"/>
          <p:cNvSpPr/>
          <p:nvPr/>
        </p:nvSpPr>
        <p:spPr>
          <a:xfrm>
            <a:off x="6409944" y="395935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DE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30" name="Shape 25"/>
          <p:cNvSpPr/>
          <p:nvPr/>
        </p:nvSpPr>
        <p:spPr>
          <a:xfrm>
            <a:off x="10799064" y="3977640"/>
            <a:ext cx="566928" cy="566928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6465" y="4125041"/>
            <a:ext cx="272125" cy="27212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78624" y="39593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analysts can run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7278624" y="46451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analysts run without ML expert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548640" y="58704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single gap stays open, the chain delivers no value: </a:t>
            </a:r>
            <a:r>
              <a:rPr lang="en-US" sz="13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perfect-but-late is useless; fast-but-missing-victims is useless; complete-but-duplicated is useless; working-but-uninstallable is useless.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996466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VioNER — Violent-event Named Entity Recognition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deployable system that converts English-language news about violent events in Africa into </a:t>
            </a:r>
            <a:r>
              <a:rPr lang="en-US" sz="1600" b="1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role-distinguished event records</a:t>
            </a:r>
            <a:r>
              <a:rPr lang="en-US" sz="16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analyst can review instead of originate — in ~150 ms per article on a CPU.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121408" cy="18288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121408" cy="76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9" name="Shape 7"/>
          <p:cNvSpPr/>
          <p:nvPr/>
        </p:nvSpPr>
        <p:spPr>
          <a:xfrm>
            <a:off x="751840" y="2768600"/>
            <a:ext cx="571500" cy="57150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1" name="Text 8"/>
          <p:cNvSpPr/>
          <p:nvPr/>
        </p:nvSpPr>
        <p:spPr>
          <a:xfrm>
            <a:off x="713740" y="3429000"/>
            <a:ext cx="1790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schema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3740" y="3771900"/>
            <a:ext cx="1790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entity types, every label verifiable in source text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2788920" y="2514600"/>
            <a:ext cx="2121408" cy="18288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14" name="Shape 11"/>
          <p:cNvSpPr/>
          <p:nvPr/>
        </p:nvSpPr>
        <p:spPr>
          <a:xfrm>
            <a:off x="2788920" y="2514600"/>
            <a:ext cx="2121408" cy="76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5" name="Shape 12"/>
          <p:cNvSpPr/>
          <p:nvPr/>
        </p:nvSpPr>
        <p:spPr>
          <a:xfrm>
            <a:off x="2992120" y="2768600"/>
            <a:ext cx="571500" cy="57150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7" name="Text 13"/>
          <p:cNvSpPr/>
          <p:nvPr/>
        </p:nvSpPr>
        <p:spPr>
          <a:xfrm>
            <a:off x="2954020" y="3429000"/>
            <a:ext cx="1790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ML Model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954020" y="3771900"/>
            <a:ext cx="1790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bert-base-cased + focal loss &amp; class weights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5029200" y="2514600"/>
            <a:ext cx="2121408" cy="18288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20" name="Shape 16"/>
          <p:cNvSpPr/>
          <p:nvPr/>
        </p:nvSpPr>
        <p:spPr>
          <a:xfrm>
            <a:off x="5029200" y="2514600"/>
            <a:ext cx="2121408" cy="76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1" name="Shape 17"/>
          <p:cNvSpPr/>
          <p:nvPr/>
        </p:nvSpPr>
        <p:spPr>
          <a:xfrm>
            <a:off x="5232400" y="2768600"/>
            <a:ext cx="571500" cy="57150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3" name="Text 18"/>
          <p:cNvSpPr/>
          <p:nvPr/>
        </p:nvSpPr>
        <p:spPr>
          <a:xfrm>
            <a:off x="5194300" y="3429000"/>
            <a:ext cx="1790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taxonomy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194300" y="3771900"/>
            <a:ext cx="1790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 leaf event categories, Africa-specific extensions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7269480" y="2514600"/>
            <a:ext cx="2121408" cy="18288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26" name="Shape 21"/>
          <p:cNvSpPr/>
          <p:nvPr/>
        </p:nvSpPr>
        <p:spPr>
          <a:xfrm>
            <a:off x="7269480" y="2514600"/>
            <a:ext cx="2121408" cy="76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7" name="Shape 22"/>
          <p:cNvSpPr/>
          <p:nvPr/>
        </p:nvSpPr>
        <p:spPr>
          <a:xfrm>
            <a:off x="7472680" y="2768600"/>
            <a:ext cx="571500" cy="57150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9" name="Text 23"/>
          <p:cNvSpPr/>
          <p:nvPr/>
        </p:nvSpPr>
        <p:spPr>
          <a:xfrm>
            <a:off x="7434580" y="3429000"/>
            <a:ext cx="1790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KB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434580" y="3771900"/>
            <a:ext cx="1790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armed groups · 200 cities — validate &amp; enrich</a:t>
            </a:r>
            <a:endParaRPr lang="en-US" sz="980" dirty="0"/>
          </a:p>
        </p:txBody>
      </p:sp>
      <p:sp>
        <p:nvSpPr>
          <p:cNvPr id="31" name="Shape 25"/>
          <p:cNvSpPr/>
          <p:nvPr/>
        </p:nvSpPr>
        <p:spPr>
          <a:xfrm>
            <a:off x="9509760" y="2514600"/>
            <a:ext cx="2121408" cy="18288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32" name="Shape 26"/>
          <p:cNvSpPr/>
          <p:nvPr/>
        </p:nvSpPr>
        <p:spPr>
          <a:xfrm>
            <a:off x="9509760" y="2514600"/>
            <a:ext cx="2121408" cy="76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33" name="Shape 27"/>
          <p:cNvSpPr/>
          <p:nvPr/>
        </p:nvSpPr>
        <p:spPr>
          <a:xfrm>
            <a:off x="9712960" y="2768600"/>
            <a:ext cx="571500" cy="571500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35" name="Text 28"/>
          <p:cNvSpPr/>
          <p:nvPr/>
        </p:nvSpPr>
        <p:spPr>
          <a:xfrm>
            <a:off x="9674860" y="3429000"/>
            <a:ext cx="1790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platform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9674860" y="3771900"/>
            <a:ext cx="1790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+ PostgreSQL, one-command Docker</a:t>
            </a:r>
            <a:endParaRPr lang="en-US" sz="980" dirty="0"/>
          </a:p>
        </p:txBody>
      </p:sp>
      <p:pic>
        <p:nvPicPr>
          <p:cNvPr id="37" name="Graphic 37" descr="Grounded schema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4550" y="2863850"/>
            <a:ext cx="381000" cy="381000"/>
          </a:xfrm>
          <a:prstGeom prst="rect">
            <a:avLst/>
          </a:prstGeom>
        </p:spPr>
      </p:pic>
      <p:pic>
        <p:nvPicPr>
          <p:cNvPr id="38" name="Graphic 38" descr="Fine-tuned BER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2450" y="2863850"/>
            <a:ext cx="381000" cy="381000"/>
          </a:xfrm>
          <a:prstGeom prst="rect">
            <a:avLst/>
          </a:prstGeom>
        </p:spPr>
      </p:pic>
      <p:pic>
        <p:nvPicPr>
          <p:cNvPr id="39" name="Graphic 39" descr="4-level taxonom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7650" y="2863850"/>
            <a:ext cx="381000" cy="381000"/>
          </a:xfrm>
          <a:prstGeom prst="rect">
            <a:avLst/>
          </a:prstGeom>
        </p:spPr>
      </p:pic>
      <p:pic>
        <p:nvPicPr>
          <p:cNvPr id="40" name="Graphic 40" descr="Curated KB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2850" y="2863850"/>
            <a:ext cx="381000" cy="381000"/>
          </a:xfrm>
          <a:prstGeom prst="rect">
            <a:avLst/>
          </a:prstGeom>
        </p:spPr>
      </p:pic>
      <p:pic>
        <p:nvPicPr>
          <p:cNvPr id="41" name="Graphic 41" descr="Analyst platform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0750" y="286385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03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design science — build, evaluate, learn, refine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2468880" cy="246888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en-ET"/>
          </a:p>
        </p:txBody>
      </p:sp>
      <p:sp>
        <p:nvSpPr>
          <p:cNvPr id="7" name="Shape 5"/>
          <p:cNvSpPr/>
          <p:nvPr/>
        </p:nvSpPr>
        <p:spPr>
          <a:xfrm>
            <a:off x="1673352" y="1819656"/>
            <a:ext cx="1133856" cy="658368"/>
          </a:xfrm>
          <a:prstGeom prst="ellipse">
            <a:avLst/>
          </a:prstGeom>
          <a:solidFill>
            <a:srgbClr val="16314E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8" name="Text 6"/>
          <p:cNvSpPr/>
          <p:nvPr/>
        </p:nvSpPr>
        <p:spPr>
          <a:xfrm>
            <a:off x="1673352" y="1819656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07792" y="3054096"/>
            <a:ext cx="1133856" cy="658368"/>
          </a:xfrm>
          <a:prstGeom prst="ellipse">
            <a:avLst/>
          </a:prstGeom>
          <a:solidFill>
            <a:srgbClr val="16314E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0" name="Text 8"/>
          <p:cNvSpPr/>
          <p:nvPr/>
        </p:nvSpPr>
        <p:spPr>
          <a:xfrm>
            <a:off x="2907792" y="3054096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673352" y="4288536"/>
            <a:ext cx="1133856" cy="658368"/>
          </a:xfrm>
          <a:prstGeom prst="ellipse">
            <a:avLst/>
          </a:prstGeom>
          <a:solidFill>
            <a:srgbClr val="16314E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2" name="Text 10"/>
          <p:cNvSpPr/>
          <p:nvPr/>
        </p:nvSpPr>
        <p:spPr>
          <a:xfrm>
            <a:off x="1673352" y="4288536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" y="3054096"/>
            <a:ext cx="1133856" cy="658368"/>
          </a:xfrm>
          <a:prstGeom prst="ellipse">
            <a:avLst/>
          </a:prstGeom>
          <a:solidFill>
            <a:srgbClr val="16314E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4" name="Text 12"/>
          <p:cNvSpPr/>
          <p:nvPr/>
        </p:nvSpPr>
        <p:spPr>
          <a:xfrm>
            <a:off x="438912" y="3054096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Hevner et al. 2004 · Peffers et al. 2007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669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an artefact 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empirically, iterated on evidence.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34840" y="16276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DOCUMENTED ITERATION LOOPS — EACH CLOSED BY MEASUREMENT, NOT PREFERENCE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2011680"/>
            <a:ext cx="72054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9" name="Shape 17"/>
          <p:cNvSpPr/>
          <p:nvPr/>
        </p:nvSpPr>
        <p:spPr>
          <a:xfrm>
            <a:off x="4434840" y="2011680"/>
            <a:ext cx="82296" cy="1298448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0" name="Text 18"/>
          <p:cNvSpPr/>
          <p:nvPr/>
        </p:nvSpPr>
        <p:spPr>
          <a:xfrm>
            <a:off x="4663440" y="212140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loop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63440" y="2450592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the training corpus from a raw event dump into a curated, diversity-balanced subset — so the model learns from varied phrasing rather than a handful of over-represented common events.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34840" y="3438144"/>
            <a:ext cx="72054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3" name="Shape 21"/>
          <p:cNvSpPr/>
          <p:nvPr/>
        </p:nvSpPr>
        <p:spPr>
          <a:xfrm>
            <a:off x="4434840" y="3438144"/>
            <a:ext cx="82296" cy="1298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4" name="Text 22"/>
          <p:cNvSpPr/>
          <p:nvPr/>
        </p:nvSpPr>
        <p:spPr>
          <a:xfrm>
            <a:off x="4663440" y="354787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loop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663440" y="3877056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the entity set to only those an annotator can locate word-for-word in the source text — giving the model clean, auditable labels and the analyst output they can trust.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34840" y="4864608"/>
            <a:ext cx="72054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7" name="Shape 25"/>
          <p:cNvSpPr/>
          <p:nvPr/>
        </p:nvSpPr>
        <p:spPr>
          <a:xfrm>
            <a:off x="4434840" y="4864608"/>
            <a:ext cx="82296" cy="129844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8" name="Text 26"/>
          <p:cNvSpPr/>
          <p:nvPr/>
        </p:nvSpPr>
        <p:spPr>
          <a:xfrm>
            <a:off x="4663440" y="497433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loop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63440" y="530352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Reshaped the training objective to concentrate on the rare, operationally critical entities — victim, action, casualties — rather than the easy majority of non-entity tokens.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514232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1 · CLOSES GAP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grounding 8-entity schema — trained only on what is verifiably on the page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12080" cy="2743200"/>
          </a:xfrm>
          <a:prstGeom prst="rect">
            <a:avLst/>
          </a:prstGeom>
          <a:solidFill>
            <a:srgbClr val="F2F5F8"/>
          </a:solidFill>
          <a:ln w="12700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TAGS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in the schema is one the model can point to </a:t>
            </a:r>
            <a:r>
              <a:rPr lang="en-US" sz="1250" b="1" i="1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word-for-word</a:t>
            </a:r>
            <a:r>
              <a:rPr lang="en-US" sz="12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article. The analyst can audit every extracted span against the source — nothing is inferred or invented.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entity types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· VICTIM · ACTION · DATE · REGION · CITY · DISTRICT · CASUALTIES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answers part of the analyst's core question — who, what, when, where, and how many.</a:t>
            </a:r>
          </a:p>
        </p:txBody>
      </p:sp>
      <p:sp>
        <p:nvSpPr>
          <p:cNvPr id="10" name="Shape 8"/>
          <p:cNvSpPr/>
          <p:nvPr/>
        </p:nvSpPr>
        <p:spPr>
          <a:xfrm>
            <a:off x="5989320" y="169164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1" name="Shape 9"/>
          <p:cNvSpPr/>
          <p:nvPr/>
        </p:nvSpPr>
        <p:spPr>
          <a:xfrm>
            <a:off x="5989320" y="1691640"/>
            <a:ext cx="82296" cy="12801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2" name="Text 10"/>
          <p:cNvSpPr/>
          <p:nvPr/>
        </p:nvSpPr>
        <p:spPr>
          <a:xfrm>
            <a:off x="6190488" y="1783080"/>
            <a:ext cx="239572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Verifiable in text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08776" y="2434133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two annotators apply consistently, because they read them off the text rather than infer them.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87968" y="169164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5" name="Shape 13"/>
          <p:cNvSpPr/>
          <p:nvPr/>
        </p:nvSpPr>
        <p:spPr>
          <a:xfrm>
            <a:off x="8887968" y="1691640"/>
            <a:ext cx="82296" cy="1280160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6" name="Text 14"/>
          <p:cNvSpPr/>
          <p:nvPr/>
        </p:nvSpPr>
        <p:spPr>
          <a:xfrm>
            <a:off x="9089136" y="1783080"/>
            <a:ext cx="239572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labels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07424" y="2434133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encoding: O + 8 × (B-, I-) — half the label space of BIOES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3154680"/>
            <a:ext cx="564184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9" name="Shape 17"/>
          <p:cNvSpPr/>
          <p:nvPr/>
        </p:nvSpPr>
        <p:spPr>
          <a:xfrm>
            <a:off x="5989320" y="3154680"/>
            <a:ext cx="82296" cy="1280160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0" name="Text 18"/>
          <p:cNvSpPr/>
          <p:nvPr/>
        </p:nvSpPr>
        <p:spPr>
          <a:xfrm>
            <a:off x="6236208" y="3273552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lost to the consumer.  </a:t>
            </a: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 returns through the rule-based taxonomy classifier; COUNTRY returns through KB lookup. The analyst sees the full record — every training label is clean ground truth.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6817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MAPS DIRECTLY ONTO THE EVENT RECORD ANALYSTS USE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21214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2121408" cy="365760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" y="545896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· VICTIM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580644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perpetrator vs harmed — role-distinguished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88920" y="5029200"/>
            <a:ext cx="21214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8" name="Shape 26"/>
          <p:cNvSpPr/>
          <p:nvPr/>
        </p:nvSpPr>
        <p:spPr>
          <a:xfrm>
            <a:off x="2788920" y="5029200"/>
            <a:ext cx="2121408" cy="3657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9" name="Text 27"/>
          <p:cNvSpPr/>
          <p:nvPr/>
        </p:nvSpPr>
        <p:spPr>
          <a:xfrm>
            <a:off x="2788920" y="5029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898648" y="545896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98648" y="580644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violence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0" y="5029200"/>
            <a:ext cx="21214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33" name="Shape 31"/>
          <p:cNvSpPr/>
          <p:nvPr/>
        </p:nvSpPr>
        <p:spPr>
          <a:xfrm>
            <a:off x="5029200" y="5029200"/>
            <a:ext cx="2121408" cy="3657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34" name="Text 32"/>
          <p:cNvSpPr/>
          <p:nvPr/>
        </p:nvSpPr>
        <p:spPr>
          <a:xfrm>
            <a:off x="5029200" y="5029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138928" y="545896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38928" y="580644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from relative phrases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69480" y="5029200"/>
            <a:ext cx="21214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38" name="Shape 36"/>
          <p:cNvSpPr/>
          <p:nvPr/>
        </p:nvSpPr>
        <p:spPr>
          <a:xfrm>
            <a:off x="7269480" y="5029200"/>
            <a:ext cx="2121408" cy="365760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39" name="Text 37"/>
          <p:cNvSpPr/>
          <p:nvPr/>
        </p:nvSpPr>
        <p:spPr>
          <a:xfrm>
            <a:off x="7269480" y="5029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379208" y="545896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· CITY · DISTRICT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79208" y="580644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admin levels + KB country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509760" y="5029200"/>
            <a:ext cx="21214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43" name="Shape 41"/>
          <p:cNvSpPr/>
          <p:nvPr/>
        </p:nvSpPr>
        <p:spPr>
          <a:xfrm>
            <a:off x="9509760" y="5029200"/>
            <a:ext cx="2121408" cy="3657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44" name="Text 42"/>
          <p:cNvSpPr/>
          <p:nvPr/>
        </p:nvSpPr>
        <p:spPr>
          <a:xfrm>
            <a:off x="9509760" y="5029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619488" y="545896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619488" y="580644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with qualifiers ("at least")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096841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2 &amp; DATA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4-level African event taxonomy — trained on a deliberately engineered corpus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2103120" y="1783080"/>
            <a:ext cx="2377440" cy="713232"/>
          </a:xfrm>
          <a:prstGeom prst="rect">
            <a:avLst/>
          </a:prstGeom>
          <a:solidFill>
            <a:srgbClr val="16314E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7" name="Text 5"/>
          <p:cNvSpPr/>
          <p:nvPr/>
        </p:nvSpPr>
        <p:spPr>
          <a:xfrm>
            <a:off x="2194560" y="17830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· Root 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Events Taxonomy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2569464"/>
            <a:ext cx="3291840" cy="713232"/>
          </a:xfrm>
          <a:prstGeom prst="rect">
            <a:avLst/>
          </a:prstGeom>
          <a:solidFill>
            <a:srgbClr val="1F4068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9" name="Text 7"/>
          <p:cNvSpPr/>
          <p:nvPr/>
        </p:nvSpPr>
        <p:spPr>
          <a:xfrm>
            <a:off x="1737360" y="256946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4 families 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· Criminal · Communal · State Violence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88720" y="3355848"/>
            <a:ext cx="4206240" cy="713232"/>
          </a:xfrm>
          <a:prstGeom prst="rect">
            <a:avLst/>
          </a:prstGeom>
          <a:solidFill>
            <a:srgbClr val="2A9D8F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1" name="Text 9"/>
          <p:cNvSpPr/>
          <p:nvPr/>
        </p:nvSpPr>
        <p:spPr>
          <a:xfrm>
            <a:off x="1280160" y="335584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~16 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Terrorism · Coup · Kidnapping · Pastoralist–Farmer Clash 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142232"/>
            <a:ext cx="5120640" cy="713232"/>
          </a:xfrm>
          <a:prstGeom prst="rect">
            <a:avLst/>
          </a:prstGeom>
          <a:solidFill>
            <a:srgbClr val="1F7A6F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3" name="Text 11"/>
          <p:cNvSpPr/>
          <p:nvPr/>
        </p:nvSpPr>
        <p:spPr>
          <a:xfrm>
            <a:off x="822960" y="414223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~95 leaves 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Bombing · Ambush · Cattle Raiding · Forced Disappearance 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239512" cy="4434840"/>
          </a:xfrm>
          <a:prstGeom prst="rect">
            <a:avLst/>
          </a:prstGeom>
          <a:solidFill>
            <a:srgbClr val="F2F5F8"/>
          </a:solidFill>
          <a:ln w="12700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16" name="Text 14"/>
          <p:cNvSpPr/>
          <p:nvPr/>
        </p:nvSpPr>
        <p:spPr>
          <a:xfrm>
            <a:off x="662940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50,000-EXAMPLE TRAINING CORPUS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583680" y="2240280"/>
          <a:ext cx="49377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55917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3 · CLOSES GAP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training recipe: focal loss × class weights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3611880" cy="91440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8" name="Shape 6"/>
          <p:cNvSpPr/>
          <p:nvPr/>
        </p:nvSpPr>
        <p:spPr>
          <a:xfrm>
            <a:off x="777240" y="2029968"/>
            <a:ext cx="603504" cy="603504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51" y="2186879"/>
            <a:ext cx="289682" cy="2896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0299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5528" y="2779776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Rebalances ACROSS classes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279392" y="1755648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3" name="Shape 10"/>
          <p:cNvSpPr/>
          <p:nvPr/>
        </p:nvSpPr>
        <p:spPr>
          <a:xfrm>
            <a:off x="4279392" y="1755648"/>
            <a:ext cx="3611880" cy="914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4" name="Shape 11"/>
          <p:cNvSpPr/>
          <p:nvPr/>
        </p:nvSpPr>
        <p:spPr>
          <a:xfrm>
            <a:off x="4507992" y="2029968"/>
            <a:ext cx="603504" cy="603504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903" y="2186879"/>
            <a:ext cx="289682" cy="2896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9512" y="20299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 (γ = 2)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26280" y="2779776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each token's loss by (1 − pᵧ)². Rebalances WITHIN classes by difficulty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8010144" y="1755648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9" name="Shape 15"/>
          <p:cNvSpPr/>
          <p:nvPr/>
        </p:nvSpPr>
        <p:spPr>
          <a:xfrm>
            <a:off x="8010144" y="1755648"/>
            <a:ext cx="3611880" cy="914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0" name="Shape 16"/>
          <p:cNvSpPr/>
          <p:nvPr/>
        </p:nvSpPr>
        <p:spPr>
          <a:xfrm>
            <a:off x="8238744" y="2029968"/>
            <a:ext cx="603504" cy="603504"/>
          </a:xfrm>
          <a:prstGeom prst="ellipse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655" y="2186879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70264" y="20299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— complementarity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257032" y="2779776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attack different aspects of the imbalance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48640" y="4370832"/>
            <a:ext cx="11091672" cy="868680"/>
          </a:xfrm>
          <a:prstGeom prst="rect">
            <a:avLst/>
          </a:prstGeom>
          <a:solidFill>
            <a:srgbClr val="16314E"/>
          </a:solidFill>
          <a:ln/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5" name="Text 20"/>
          <p:cNvSpPr/>
          <p:nvPr/>
        </p:nvSpPr>
        <p:spPr>
          <a:xfrm>
            <a:off x="822960" y="43708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loss   =   </a:t>
            </a:r>
            <a:r>
              <a:rPr lang="en-US" sz="17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αᵧ</a:t>
            </a:r>
            <a:r>
              <a:rPr lang="en-US" sz="1500" dirty="0">
                <a:solidFill>
                  <a:srgbClr val="A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7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pᵧ)²</a:t>
            </a:r>
            <a:r>
              <a:rPr lang="en-US" sz="1500" dirty="0">
                <a:solidFill>
                  <a:srgbClr val="A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 log pᵧ)</a:t>
            </a:r>
            <a:r>
              <a:rPr lang="en-US" sz="1150" i="1" dirty="0">
                <a:solidFill>
                  <a:srgbClr val="A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39912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4 · CLOSES GAP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knowledge base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2296" cy="12344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8" name="Text 6"/>
          <p:cNvSpPr/>
          <p:nvPr/>
        </p:nvSpPr>
        <p:spPr>
          <a:xfrm>
            <a:off x="749808" y="1783080"/>
            <a:ext cx="235000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8096" y="2407615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African armed groups — canonical name, aliases (mean 4.2)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46704" y="169164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1" name="Shape 9"/>
          <p:cNvSpPr/>
          <p:nvPr/>
        </p:nvSpPr>
        <p:spPr>
          <a:xfrm>
            <a:off x="3346704" y="1691640"/>
            <a:ext cx="82296" cy="1234440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2" name="Text 10"/>
          <p:cNvSpPr/>
          <p:nvPr/>
        </p:nvSpPr>
        <p:spPr>
          <a:xfrm>
            <a:off x="3547872" y="1783080"/>
            <a:ext cx="235000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66160" y="2407615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conflict-affected cities mapped to country and region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44768" y="169164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5" name="Shape 13"/>
          <p:cNvSpPr/>
          <p:nvPr/>
        </p:nvSpPr>
        <p:spPr>
          <a:xfrm>
            <a:off x="6144768" y="1691640"/>
            <a:ext cx="82296" cy="12344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6" name="Text 14"/>
          <p:cNvSpPr/>
          <p:nvPr/>
        </p:nvSpPr>
        <p:spPr>
          <a:xfrm>
            <a:off x="6345936" y="1783080"/>
            <a:ext cx="235000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64224" y="2407615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countries with ISO 3166-1 codes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42832" y="169164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9" name="Shape 17"/>
          <p:cNvSpPr/>
          <p:nvPr/>
        </p:nvSpPr>
        <p:spPr>
          <a:xfrm>
            <a:off x="8942832" y="1691640"/>
            <a:ext cx="82296" cy="1234440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0" name="Text 18"/>
          <p:cNvSpPr/>
          <p:nvPr/>
        </p:nvSpPr>
        <p:spPr>
          <a:xfrm>
            <a:off x="9144000" y="1783080"/>
            <a:ext cx="235000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62288" y="2407615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 categories from the UCDP catalogue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82296" cy="21945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4" name="Text 22"/>
          <p:cNvSpPr/>
          <p:nvPr/>
        </p:nvSpPr>
        <p:spPr>
          <a:xfrm>
            <a:off x="804672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1 · VALIDATION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" y="36576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"Al-Shabaab" (Somalia) extracted alongside "Goma" (DRC) — 5,000 km apart. </a:t>
            </a:r>
            <a:endParaRPr lang="en-US" sz="12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gets a geo_implausible flag — never blocked, just queued for analyst re-read. 2.4% of extracted events flagged: exactly the ones that benefit most from review.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81344" y="3200400"/>
            <a:ext cx="54589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88900" dist="38100" dir="81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7" name="Shape 25"/>
          <p:cNvSpPr/>
          <p:nvPr/>
        </p:nvSpPr>
        <p:spPr>
          <a:xfrm>
            <a:off x="6181344" y="3200400"/>
            <a:ext cx="82296" cy="21945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8" name="Text 26"/>
          <p:cNvSpPr/>
          <p:nvPr/>
        </p:nvSpPr>
        <p:spPr>
          <a:xfrm>
            <a:off x="6437376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2 · ENRICHMENT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37376" y="365760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 Shabaab" · "al-shabaab" · "Al-Shabaab fighters" → one canonical kb_id </a:t>
            </a:r>
            <a:endParaRPr lang="en-US" sz="1250" dirty="0"/>
          </a:p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(fuzzy match, threshold 0.85). 64.3% of ACTOR mentions enriched. The query "all Al-Shabaab attacks" returns the true 34 events, not the exact-string 18. A librarian's authority file for armed groups.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11091672" cy="777240"/>
          </a:xfrm>
          <a:prstGeom prst="rect">
            <a:avLst/>
          </a:prstGeom>
          <a:solidFill>
            <a:srgbClr val="EAF2F0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31" name="Text 29"/>
          <p:cNvSpPr/>
          <p:nvPr/>
        </p:nvSpPr>
        <p:spPr>
          <a:xfrm>
            <a:off x="777240" y="5715000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on purpose: </a:t>
            </a:r>
            <a:r>
              <a:rPr lang="en-US" sz="12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actively-curated groups beat 5,000 scraped, inactive entries — a clean validation signal, with no fabrication: unknown actors simply carry their raw surface form. KB sits post-model, so updates need no retraining.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527704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5 · CLOSES GAP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deployable platform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989320" cy="841248"/>
          </a:xfrm>
          <a:prstGeom prst="rect">
            <a:avLst/>
          </a:prstGeom>
          <a:solidFill>
            <a:srgbClr val="2A9D8F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7" name="Text 5"/>
          <p:cNvSpPr/>
          <p:nvPr/>
        </p:nvSpPr>
        <p:spPr>
          <a:xfrm>
            <a:off x="777240" y="1847088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SPA — Training · Inference · Events · Analytics · KB Admin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38728" y="2624328"/>
            <a:ext cx="0" cy="201168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5989320" cy="841248"/>
          </a:xfrm>
          <a:prstGeom prst="rect">
            <a:avLst/>
          </a:prstGeom>
          <a:solidFill>
            <a:srgbClr val="1F4068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0" name="Text 8"/>
          <p:cNvSpPr/>
          <p:nvPr/>
        </p:nvSpPr>
        <p:spPr>
          <a:xfrm>
            <a:off x="777240" y="288950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7 REST route groups + WebSocket training feed; model loaded once at startup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38728" y="3666744"/>
            <a:ext cx="0" cy="201168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12" name="Shape 10"/>
          <p:cNvSpPr/>
          <p:nvPr/>
        </p:nvSpPr>
        <p:spPr>
          <a:xfrm>
            <a:off x="548640" y="3867912"/>
            <a:ext cx="5989320" cy="841248"/>
          </a:xfrm>
          <a:prstGeom prst="rect">
            <a:avLst/>
          </a:prstGeom>
          <a:solidFill>
            <a:srgbClr val="16314E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3" name="Text 11"/>
          <p:cNvSpPr/>
          <p:nvPr/>
        </p:nvSpPr>
        <p:spPr>
          <a:xfrm>
            <a:off x="777240" y="39319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(in-process)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NER head  ·  in-memory Knowledge 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38728" y="4709160"/>
            <a:ext cx="0" cy="201168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15" name="Shape 13"/>
          <p:cNvSpPr/>
          <p:nvPr/>
        </p:nvSpPr>
        <p:spPr>
          <a:xfrm>
            <a:off x="548640" y="4910328"/>
            <a:ext cx="5989320" cy="841248"/>
          </a:xfrm>
          <a:prstGeom prst="rect">
            <a:avLst/>
          </a:prstGeom>
          <a:solidFill>
            <a:srgbClr val="0E2238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6" name="Text 14"/>
          <p:cNvSpPr/>
          <p:nvPr/>
        </p:nvSpPr>
        <p:spPr>
          <a:xfrm>
            <a:off x="777240" y="4974336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— full-text + JSONB indexing over events, runs, KB tables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— the minimum for clean separation. Monolith over microservices: at 30k articles/yr, a service mesh adds latency and ops burden without buying anything.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1783080"/>
            <a:ext cx="4828032" cy="2788920"/>
          </a:xfrm>
          <a:prstGeom prst="rect">
            <a:avLst/>
          </a:prstGeom>
          <a:solidFill>
            <a:srgbClr val="F2F5F8"/>
          </a:solidFill>
          <a:ln w="12700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19" name="Text 17"/>
          <p:cNvSpPr/>
          <p:nvPr/>
        </p:nvSpPr>
        <p:spPr>
          <a:xfrm>
            <a:off x="7022592" y="1920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NON-ML ANALYST CAN DO — NO CODE, NO TERMINAL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22592" y="2267712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article → colour-coded entity chips with KB metadata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events with date / country / actor / confidence filters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 — per-country, per-actor, per-taxonomy trends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retraining; watch the live loss curve over WebSocket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armed group via KB admin when a theatre opens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099367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Article-to-record in ~150 milliseconds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517904" cy="1371600"/>
          </a:xfrm>
          <a:prstGeom prst="rect">
            <a:avLst/>
          </a:prstGeom>
          <a:solidFill>
            <a:srgbClr val="2A9D8F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7" name="Text 5"/>
          <p:cNvSpPr/>
          <p:nvPr/>
        </p:nvSpPr>
        <p:spPr>
          <a:xfrm>
            <a:off x="621792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tokenise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66544" y="2606040"/>
            <a:ext cx="91440" cy="0"/>
          </a:xfrm>
          <a:prstGeom prst="line">
            <a:avLst/>
          </a:prstGeom>
          <a:noFill/>
          <a:ln w="25400">
            <a:solidFill>
              <a:srgbClr val="5A6675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10" name="Shape 8"/>
          <p:cNvSpPr/>
          <p:nvPr/>
        </p:nvSpPr>
        <p:spPr>
          <a:xfrm>
            <a:off x="2157984" y="1920240"/>
            <a:ext cx="1517904" cy="1371600"/>
          </a:xfrm>
          <a:prstGeom prst="rect">
            <a:avLst/>
          </a:prstGeom>
          <a:solidFill>
            <a:srgbClr val="16314E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1" name="Text 9"/>
          <p:cNvSpPr/>
          <p:nvPr/>
        </p:nvSpPr>
        <p:spPr>
          <a:xfrm>
            <a:off x="2231136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forward pass → 17-label softmax / token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31136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 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75888" y="2606040"/>
            <a:ext cx="91440" cy="0"/>
          </a:xfrm>
          <a:prstGeom prst="line">
            <a:avLst/>
          </a:prstGeom>
          <a:noFill/>
          <a:ln w="25400">
            <a:solidFill>
              <a:srgbClr val="5A6675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14" name="Shape 12"/>
          <p:cNvSpPr/>
          <p:nvPr/>
        </p:nvSpPr>
        <p:spPr>
          <a:xfrm>
            <a:off x="3767328" y="1920240"/>
            <a:ext cx="1517904" cy="1371600"/>
          </a:xfrm>
          <a:prstGeom prst="rect">
            <a:avLst/>
          </a:prstGeom>
          <a:solidFill>
            <a:srgbClr val="2A9D8F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5" name="Text 13"/>
          <p:cNvSpPr/>
          <p:nvPr/>
        </p:nvSpPr>
        <p:spPr>
          <a:xfrm>
            <a:off x="3840480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decode + per-category confidence filter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85232" y="2606040"/>
            <a:ext cx="91440" cy="0"/>
          </a:xfrm>
          <a:prstGeom prst="line">
            <a:avLst/>
          </a:prstGeom>
          <a:noFill/>
          <a:ln w="25400">
            <a:solidFill>
              <a:srgbClr val="5A6675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18" name="Shape 16"/>
          <p:cNvSpPr/>
          <p:nvPr/>
        </p:nvSpPr>
        <p:spPr>
          <a:xfrm>
            <a:off x="5376672" y="1920240"/>
            <a:ext cx="1517904" cy="1371600"/>
          </a:xfrm>
          <a:prstGeom prst="rect">
            <a:avLst/>
          </a:prstGeom>
          <a:solidFill>
            <a:srgbClr val="2A9D8F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9" name="Text 17"/>
          <p:cNvSpPr/>
          <p:nvPr/>
        </p:nvSpPr>
        <p:spPr>
          <a:xfrm>
            <a:off x="5449824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Event-slot grouping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9824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94576" y="2606040"/>
            <a:ext cx="91440" cy="0"/>
          </a:xfrm>
          <a:prstGeom prst="line">
            <a:avLst/>
          </a:prstGeom>
          <a:noFill/>
          <a:ln w="25400">
            <a:solidFill>
              <a:srgbClr val="5A6675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22" name="Shape 20"/>
          <p:cNvSpPr/>
          <p:nvPr/>
        </p:nvSpPr>
        <p:spPr>
          <a:xfrm>
            <a:off x="6986016" y="1920240"/>
            <a:ext cx="1517904" cy="1371600"/>
          </a:xfrm>
          <a:prstGeom prst="rect">
            <a:avLst/>
          </a:prstGeom>
          <a:solidFill>
            <a:srgbClr val="E76F51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3" name="Text 21"/>
          <p:cNvSpPr/>
          <p:nvPr/>
        </p:nvSpPr>
        <p:spPr>
          <a:xfrm>
            <a:off x="7059168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validate + enrich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59168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2606040"/>
            <a:ext cx="91440" cy="0"/>
          </a:xfrm>
          <a:prstGeom prst="line">
            <a:avLst/>
          </a:prstGeom>
          <a:noFill/>
          <a:ln w="25400">
            <a:solidFill>
              <a:srgbClr val="5A6675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26" name="Shape 24"/>
          <p:cNvSpPr/>
          <p:nvPr/>
        </p:nvSpPr>
        <p:spPr>
          <a:xfrm>
            <a:off x="8595360" y="1920240"/>
            <a:ext cx="1517904" cy="1371600"/>
          </a:xfrm>
          <a:prstGeom prst="rect">
            <a:avLst/>
          </a:prstGeom>
          <a:solidFill>
            <a:srgbClr val="E76F51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7" name="Text 25"/>
          <p:cNvSpPr/>
          <p:nvPr/>
        </p:nvSpPr>
        <p:spPr>
          <a:xfrm>
            <a:off x="8668512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classify (L1→L3)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68512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113264" y="2606040"/>
            <a:ext cx="91440" cy="0"/>
          </a:xfrm>
          <a:prstGeom prst="line">
            <a:avLst/>
          </a:prstGeom>
          <a:noFill/>
          <a:ln w="25400">
            <a:solidFill>
              <a:srgbClr val="5A6675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30" name="Shape 28"/>
          <p:cNvSpPr/>
          <p:nvPr/>
        </p:nvSpPr>
        <p:spPr>
          <a:xfrm>
            <a:off x="10204704" y="1920240"/>
            <a:ext cx="1517904" cy="1371600"/>
          </a:xfrm>
          <a:prstGeom prst="rect">
            <a:avLst/>
          </a:prstGeom>
          <a:solidFill>
            <a:srgbClr val="1F4068"/>
          </a:solidFill>
          <a:ln/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31" name="Text 29"/>
          <p:cNvSpPr/>
          <p:nvPr/>
        </p:nvSpPr>
        <p:spPr>
          <a:xfrm>
            <a:off x="10277856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to PostgreSQL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277856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657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“AL-SHABAAB ATTACKED A CONVOY NEAR MOGADISHU ON TUESDAY, KILLING AT LEAST 12 SOLDIERS.”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02336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73152" cy="868680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36" name="Text 34"/>
          <p:cNvSpPr/>
          <p:nvPr/>
        </p:nvSpPr>
        <p:spPr>
          <a:xfrm>
            <a:off x="749808" y="4096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perpetrator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" y="4389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Al-Shabaab  →  kb_id, SOM, jihadist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79392" y="402336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39" name="Shape 37"/>
          <p:cNvSpPr/>
          <p:nvPr/>
        </p:nvSpPr>
        <p:spPr>
          <a:xfrm>
            <a:off x="4279392" y="4023360"/>
            <a:ext cx="73152" cy="8686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40" name="Text 38"/>
          <p:cNvSpPr/>
          <p:nvPr/>
        </p:nvSpPr>
        <p:spPr>
          <a:xfrm>
            <a:off x="4480560" y="4096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victim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80560" y="4389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soldiers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010144" y="402336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43" name="Shape 41"/>
          <p:cNvSpPr/>
          <p:nvPr/>
        </p:nvSpPr>
        <p:spPr>
          <a:xfrm>
            <a:off x="8010144" y="4023360"/>
            <a:ext cx="73152" cy="8686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44" name="Text 42"/>
          <p:cNvSpPr/>
          <p:nvPr/>
        </p:nvSpPr>
        <p:spPr>
          <a:xfrm>
            <a:off x="8211312" y="4096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11312" y="4389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attacked  →  taxonomy: Political → Terrorism → Armed Assault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5020056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47" name="Shape 45"/>
          <p:cNvSpPr/>
          <p:nvPr/>
        </p:nvSpPr>
        <p:spPr>
          <a:xfrm>
            <a:off x="548640" y="5020056"/>
            <a:ext cx="73152" cy="86868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48" name="Text 46"/>
          <p:cNvSpPr/>
          <p:nvPr/>
        </p:nvSpPr>
        <p:spPr>
          <a:xfrm>
            <a:off x="749808" y="50932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9808" y="53858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 →  2026-01-09 (normalised)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279392" y="5020056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51" name="Shape 49"/>
          <p:cNvSpPr/>
          <p:nvPr/>
        </p:nvSpPr>
        <p:spPr>
          <a:xfrm>
            <a:off x="4279392" y="5020056"/>
            <a:ext cx="73152" cy="8686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52" name="Text 50"/>
          <p:cNvSpPr/>
          <p:nvPr/>
        </p:nvSpPr>
        <p:spPr>
          <a:xfrm>
            <a:off x="4480560" y="50932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480560" y="53858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Mogadishu  →  country SOM via KB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010144" y="5020056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  <a:effectLst>
            <a:outerShdw blurRad="63500" dist="25400" dir="8100000" algn="bl" rotWithShape="0">
              <a:srgbClr val="1B2A3A">
                <a:alpha val="12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55" name="Shape 53"/>
          <p:cNvSpPr/>
          <p:nvPr/>
        </p:nvSpPr>
        <p:spPr>
          <a:xfrm>
            <a:off x="8010144" y="5020056"/>
            <a:ext cx="73152" cy="8686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56" name="Text 54"/>
          <p:cNvSpPr/>
          <p:nvPr/>
        </p:nvSpPr>
        <p:spPr>
          <a:xfrm>
            <a:off x="8211312" y="50932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11312" y="53858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killed: 12, qualifier: “at least”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span points back to a token range in the source — nothing is invented.  </a:t>
            </a: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ms vs 15–25 minutes manual: batch-processing a year of African reporting takes ~75 minutes of compute.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538088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EVIDENCE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Precision, recall, and F1 on a 10,000-example held-out set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11880" cy="2331720"/>
          </a:xfrm>
          <a:prstGeom prst="rect">
            <a:avLst/>
          </a:prstGeom>
          <a:solidFill>
            <a:srgbClr val="F2F5F8"/>
          </a:solidFill>
          <a:ln/>
          <a:effectLst>
            <a:outerShdw blurRad="88900" dist="38100" dir="8100000" algn="bl" rotWithShape="0">
              <a:srgbClr val="F2F5F8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611880" cy="10972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0.918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95528" y="29535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2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3264408"/>
            <a:ext cx="3118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entities the model predicts, the share that are correct — how few false alarms.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611880" cy="2331720"/>
          </a:xfrm>
          <a:prstGeom prst="rect">
            <a:avLst/>
          </a:prstGeom>
          <a:solidFill>
            <a:srgbClr val="F2F5F8"/>
          </a:solidFill>
          <a:ln/>
          <a:effectLst>
            <a:outerShdw blurRad="88900" dist="38100" dir="8100000" algn="bl" rotWithShape="0">
              <a:srgbClr val="F2F5F8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2" name="Shape 10"/>
          <p:cNvSpPr/>
          <p:nvPr/>
        </p:nvSpPr>
        <p:spPr>
          <a:xfrm>
            <a:off x="4288536" y="1783080"/>
            <a:ext cx="3611880" cy="1097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3" name="Text 11"/>
          <p:cNvSpPr/>
          <p:nvPr/>
        </p:nvSpPr>
        <p:spPr>
          <a:xfrm>
            <a:off x="4517136" y="198424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0.901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4535424" y="29535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2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5424" y="3264408"/>
            <a:ext cx="3118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entities that truly exist, the share the model recovers — how little it misses.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28432" y="1783080"/>
            <a:ext cx="3611880" cy="2331720"/>
          </a:xfrm>
          <a:prstGeom prst="rect">
            <a:avLst/>
          </a:prstGeom>
          <a:solidFill>
            <a:srgbClr val="F2F5F8"/>
          </a:solidFill>
          <a:ln/>
          <a:effectLst>
            <a:outerShdw blurRad="88900" dist="38100" dir="8100000" algn="bl" rotWithShape="0">
              <a:srgbClr val="F2F5F8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17" name="Shape 15"/>
          <p:cNvSpPr/>
          <p:nvPr/>
        </p:nvSpPr>
        <p:spPr>
          <a:xfrm>
            <a:off x="8028432" y="1783080"/>
            <a:ext cx="3611880" cy="1097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8" name="Text 16"/>
          <p:cNvSpPr/>
          <p:nvPr/>
        </p:nvSpPr>
        <p:spPr>
          <a:xfrm>
            <a:off x="8257032" y="198424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0.909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8275320" y="29535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2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75320" y="3264408"/>
            <a:ext cx="3118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the two — high only when precision AND recall are both strong.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91672" cy="1691640"/>
          </a:xfrm>
          <a:prstGeom prst="rect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2" name="Text 20"/>
          <p:cNvSpPr/>
          <p:nvPr/>
        </p:nvSpPr>
        <p:spPr>
          <a:xfrm>
            <a:off x="804672" y="4572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METRICS ARE DEFINED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892040"/>
            <a:ext cx="596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correct entity · FP = predicted but wrong · FN = real entity missed.</a:t>
            </a:r>
          </a:p>
          <a:p>
            <a:pPr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TP / (TP + FP)  </a:t>
            </a: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 what the model flags, how much is right.</a:t>
            </a:r>
          </a:p>
          <a:p>
            <a:pPr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TP / (TP + FN)  </a:t>
            </a: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 what truly exists, how much is found.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2 · (P · R) / (P + R)  </a:t>
            </a: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harmonic mean; stays high only when both precision and recall are high.</a:t>
            </a:r>
          </a:p>
        </p:txBody>
      </p:sp>
      <p:sp>
        <p:nvSpPr>
          <p:cNvPr id="24" name="F1ScaleBox">
            <a:extLst>
              <a:ext uri="{FF2B5EF4-FFF2-40B4-BE49-F238E27FC236}">
                <a16:creationId xmlns:a16="http://schemas.microsoft.com/office/drawing/2014/main" id="{E13F2C80-EC60-504F-9B59-2E14654EB7C9}"/>
              </a:ext>
            </a:extLst>
          </p:cNvPr>
          <p:cNvSpPr txBox="1"/>
          <p:nvPr/>
        </p:nvSpPr>
        <p:spPr>
          <a:xfrm>
            <a:off x="6921500" y="4572000"/>
            <a:ext cx="4572000" cy="113236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spc="200" dirty="0">
                <a:solidFill>
                  <a:srgbClr val="B07A1E"/>
                </a:solidFill>
                <a:latin typeface="Calibri" pitchFamily="34" charset="0"/>
              </a:rPr>
              <a:t>WHAT THE F1 VALUE TELLS US</a:t>
            </a:r>
          </a:p>
          <a:p>
            <a:pPr marL="0" indent="0">
              <a:lnSpc>
                <a:spcPct val="106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7A6F"/>
                </a:solidFill>
                <a:latin typeface="Calibri" pitchFamily="34" charset="0"/>
              </a:rPr>
              <a:t>≥ 0.90  </a:t>
            </a:r>
            <a:r>
              <a:rPr lang="en-US" sz="1150" dirty="0">
                <a:solidFill>
                  <a:srgbClr val="5A6675"/>
                </a:solidFill>
                <a:latin typeface="Calibri" pitchFamily="34" charset="0"/>
              </a:rPr>
              <a:t>strong — precision and recall both high</a:t>
            </a:r>
          </a:p>
          <a:p>
            <a:pPr marL="0" indent="0">
              <a:lnSpc>
                <a:spcPct val="106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6314E"/>
                </a:solidFill>
                <a:latin typeface="Calibri" pitchFamily="34" charset="0"/>
              </a:rPr>
              <a:t>0.80–0.90  </a:t>
            </a:r>
            <a:r>
              <a:rPr lang="en-US" sz="1150" dirty="0">
                <a:solidFill>
                  <a:srgbClr val="5A6675"/>
                </a:solidFill>
                <a:latin typeface="Calibri" pitchFamily="34" charset="0"/>
              </a:rPr>
              <a:t>good — some imbalance but usable</a:t>
            </a:r>
          </a:p>
          <a:p>
            <a:pPr marL="0" indent="0">
              <a:lnSpc>
                <a:spcPct val="106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98A1F"/>
                </a:solidFill>
                <a:latin typeface="Calibri" pitchFamily="34" charset="0"/>
              </a:rPr>
              <a:t>0.70–0.80  </a:t>
            </a:r>
            <a:r>
              <a:rPr lang="en-US" sz="1150" dirty="0">
                <a:solidFill>
                  <a:srgbClr val="5A6675"/>
                </a:solidFill>
                <a:latin typeface="Calibri" pitchFamily="34" charset="0"/>
              </a:rPr>
              <a:t>moderate — visible gaps, may need review</a:t>
            </a:r>
          </a:p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</a:rPr>
              <a:t>&lt; 0.70  </a:t>
            </a:r>
            <a:r>
              <a:rPr lang="en-US" sz="1150" dirty="0">
                <a:solidFill>
                  <a:srgbClr val="5A6675"/>
                </a:solidFill>
                <a:latin typeface="Calibri" pitchFamily="34" charset="0"/>
              </a:rPr>
              <a:t>weak — precision or recall (or both) poor</a:t>
            </a:r>
          </a:p>
        </p:txBody>
      </p:sp>
    </p:spTree>
    <p:extLst>
      <p:ext uri="{BB962C8B-B14F-4D97-AF65-F5344CB8AC3E}">
        <p14:creationId xmlns:p14="http://schemas.microsoft.com/office/powerpoint/2010/main" val="607781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THE EVIDENCE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map the analyst can work with </a:t>
            </a:r>
            <a:endParaRPr lang="en-US" sz="2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8308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0819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span-level F1, held-out validation set (190,075 gold spans). Teal = high-support entities · orange = the operationally-critical rare tier · navy = location ambiguity.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62359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THE VERDICT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owned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5440680" cy="384048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VIONER DOES NOT DO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9632" y="1627632"/>
            <a:ext cx="5440680" cy="3840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9" name="Text 7"/>
          <p:cNvSpPr/>
          <p:nvPr/>
        </p:nvSpPr>
        <p:spPr>
          <a:xfrm>
            <a:off x="6199632" y="16276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5440680" cy="676656"/>
          </a:xfrm>
          <a:prstGeom prst="rect">
            <a:avLst/>
          </a:prstGeom>
          <a:solidFill>
            <a:srgbClr val="F2F5F8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64008" cy="676656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2" name="Text 10"/>
          <p:cNvSpPr/>
          <p:nvPr/>
        </p:nvSpPr>
        <p:spPr>
          <a:xfrm>
            <a:off x="749808" y="215798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 — much African reporting is in French, Arabic, Portuguese, local languages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199632" y="2121408"/>
            <a:ext cx="5440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14" name="Text 12"/>
          <p:cNvSpPr/>
          <p:nvPr/>
        </p:nvSpPr>
        <p:spPr>
          <a:xfrm>
            <a:off x="6400800" y="215798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extension via XLM-R / AfroLM — highest-priority future work; schema, loss recipe and KB carry over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989320" y="2459736"/>
            <a:ext cx="210312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22" name="Shape 20"/>
          <p:cNvSpPr/>
          <p:nvPr/>
        </p:nvSpPr>
        <p:spPr>
          <a:xfrm>
            <a:off x="548640" y="2895600"/>
            <a:ext cx="5440680" cy="676656"/>
          </a:xfrm>
          <a:prstGeom prst="rect">
            <a:avLst/>
          </a:prstGeom>
          <a:solidFill>
            <a:srgbClr val="F2F5F8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23" name="Shape 21"/>
          <p:cNvSpPr/>
          <p:nvPr/>
        </p:nvSpPr>
        <p:spPr>
          <a:xfrm>
            <a:off x="548640" y="2895600"/>
            <a:ext cx="64008" cy="67665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4" name="Text 22"/>
          <p:cNvSpPr/>
          <p:nvPr/>
        </p:nvSpPr>
        <p:spPr>
          <a:xfrm>
            <a:off x="749808" y="293217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classifier is rule-based, not learned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199632" y="2895600"/>
            <a:ext cx="5440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26" name="Text 24"/>
          <p:cNvSpPr/>
          <p:nvPr/>
        </p:nvSpPr>
        <p:spPr>
          <a:xfrm>
            <a:off x="6400800" y="293217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learned hierarchical classifier once Level-3 labelled data exists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989320" y="3233928"/>
            <a:ext cx="210312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28" name="Shape 26"/>
          <p:cNvSpPr/>
          <p:nvPr/>
        </p:nvSpPr>
        <p:spPr>
          <a:xfrm>
            <a:off x="548640" y="3663696"/>
            <a:ext cx="5440680" cy="676656"/>
          </a:xfrm>
          <a:prstGeom prst="rect">
            <a:avLst/>
          </a:prstGeom>
          <a:solidFill>
            <a:srgbClr val="F2F5F8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29" name="Shape 27"/>
          <p:cNvSpPr/>
          <p:nvPr/>
        </p:nvSpPr>
        <p:spPr>
          <a:xfrm>
            <a:off x="548640" y="3663696"/>
            <a:ext cx="64008" cy="676656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30" name="Text 28"/>
          <p:cNvSpPr/>
          <p:nvPr/>
        </p:nvSpPr>
        <p:spPr>
          <a:xfrm>
            <a:off x="749808" y="37002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coverage decays as groups splinter and rebrand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199632" y="3663696"/>
            <a:ext cx="5440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32" name="Text 30"/>
          <p:cNvSpPr/>
          <p:nvPr/>
        </p:nvSpPr>
        <p:spPr>
          <a:xfrm>
            <a:off x="6400800" y="37002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domain-expert curation (~1 day/week) through the KB admin UI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989320" y="4002024"/>
            <a:ext cx="210312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  <p:sp>
        <p:nvSpPr>
          <p:cNvPr id="34" name="Shape 32"/>
          <p:cNvSpPr/>
          <p:nvPr/>
        </p:nvSpPr>
        <p:spPr>
          <a:xfrm>
            <a:off x="548640" y="4431792"/>
            <a:ext cx="5440680" cy="676656"/>
          </a:xfrm>
          <a:prstGeom prst="rect">
            <a:avLst/>
          </a:prstGeom>
          <a:solidFill>
            <a:srgbClr val="F2F5F8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35" name="Shape 33"/>
          <p:cNvSpPr/>
          <p:nvPr/>
        </p:nvSpPr>
        <p:spPr>
          <a:xfrm>
            <a:off x="548640" y="4431792"/>
            <a:ext cx="64008" cy="676656"/>
          </a:xfrm>
          <a:prstGeom prst="rect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36" name="Text 34"/>
          <p:cNvSpPr/>
          <p:nvPr/>
        </p:nvSpPr>
        <p:spPr>
          <a:xfrm>
            <a:off x="749808" y="446836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D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Cross-article event linking not addressed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199632" y="4431792"/>
            <a:ext cx="5440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38" name="Text 36"/>
          <p:cNvSpPr/>
          <p:nvPr/>
        </p:nvSpPr>
        <p:spPr>
          <a:xfrm>
            <a:off x="6400800" y="446836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Coreference / event-linking is a mature separate subfield — medium-priority extension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5989320" y="4770120"/>
            <a:ext cx="210312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tailEnd type="triangle"/>
          </a:ln>
        </p:spPr>
        <p:txBody>
          <a:bodyPr/>
          <a:lstStyle/>
          <a:p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1829486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· Extraction of Violent Events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5" name="Text 3"/>
          <p:cNvSpPr/>
          <p:nvPr/>
        </p:nvSpPr>
        <p:spPr>
          <a:xfrm>
            <a:off x="54864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THE VERDICT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contributions, one integrated artefact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903720" cy="713232"/>
          </a:xfrm>
          <a:prstGeom prst="rect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73152" cy="7132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746504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Grounding-validated 8-entity schema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6903720" cy="713232"/>
          </a:xfrm>
          <a:prstGeom prst="rect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73152" cy="7132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3" name="Text 11"/>
          <p:cNvSpPr/>
          <p:nvPr/>
        </p:nvSpPr>
        <p:spPr>
          <a:xfrm>
            <a:off x="731520" y="249631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551176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African event taxonomy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300984"/>
            <a:ext cx="6903720" cy="713232"/>
          </a:xfrm>
          <a:prstGeom prst="rect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73152" cy="7132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17" name="Text 15"/>
          <p:cNvSpPr/>
          <p:nvPr/>
        </p:nvSpPr>
        <p:spPr>
          <a:xfrm>
            <a:off x="731520" y="3300984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35584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14E"/>
                </a:solidFill>
                <a:latin typeface="Calibri" pitchFamily="34" charset="0"/>
                <a:cs typeface="Calibri" pitchFamily="34" charset="-120"/>
              </a:rPr>
              <a:t>A finetuned ML Model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105656"/>
            <a:ext cx="6903720" cy="713232"/>
          </a:xfrm>
          <a:prstGeom prst="rect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0" name="Shape 18"/>
          <p:cNvSpPr/>
          <p:nvPr/>
        </p:nvSpPr>
        <p:spPr>
          <a:xfrm>
            <a:off x="548640" y="4105656"/>
            <a:ext cx="73152" cy="7132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1" name="Text 19"/>
          <p:cNvSpPr/>
          <p:nvPr/>
        </p:nvSpPr>
        <p:spPr>
          <a:xfrm>
            <a:off x="731520" y="4105656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16052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validate-&amp;-enrich KB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910328"/>
            <a:ext cx="6903720" cy="713232"/>
          </a:xfrm>
          <a:prstGeom prst="rect">
            <a:avLst/>
          </a:prstGeom>
          <a:solidFill>
            <a:srgbClr val="F2F5F8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4" name="Shape 22"/>
          <p:cNvSpPr/>
          <p:nvPr/>
        </p:nvSpPr>
        <p:spPr>
          <a:xfrm>
            <a:off x="548640" y="4910328"/>
            <a:ext cx="73152" cy="7132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5" name="Text 23"/>
          <p:cNvSpPr/>
          <p:nvPr/>
        </p:nvSpPr>
        <p:spPr>
          <a:xfrm>
            <a:off x="731520" y="4910328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965192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analyst platform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26680" y="1691640"/>
            <a:ext cx="3913632" cy="2377440"/>
          </a:xfrm>
          <a:prstGeom prst="rect">
            <a:avLst/>
          </a:prstGeom>
          <a:solidFill>
            <a:srgbClr val="F2F5F8"/>
          </a:solidFill>
          <a:ln/>
          <a:effectLst>
            <a:outerShdw blurRad="88900" dist="38100" dir="8100000" algn="bl" rotWithShape="0">
              <a:srgbClr val="F2F5F8">
                <a:alpha val="16000"/>
              </a:srgbClr>
            </a:outerShdw>
          </a:effectLst>
        </p:spPr>
        <p:txBody>
          <a:bodyPr/>
          <a:lstStyle/>
          <a:p>
            <a:endParaRPr lang="en-ET"/>
          </a:p>
        </p:txBody>
      </p:sp>
      <p:sp>
        <p:nvSpPr>
          <p:cNvPr id="28" name="Shape 26"/>
          <p:cNvSpPr/>
          <p:nvPr/>
        </p:nvSpPr>
        <p:spPr>
          <a:xfrm>
            <a:off x="7726680" y="1691640"/>
            <a:ext cx="3913632" cy="10972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29" name="Text 27"/>
          <p:cNvSpPr/>
          <p:nvPr/>
        </p:nvSpPr>
        <p:spPr>
          <a:xfrm>
            <a:off x="7955280" y="192024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is the contribution.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component is novel in isolation; no published work combines grounded schema + imbalance-aware model + curated KB + analyst platform for African violent-event extraction — and evaluates it end-to-end.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96626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ET"/>
          </a:p>
        </p:txBody>
      </p:sp>
      <p:sp>
        <p:nvSpPr>
          <p:cNvPr id="6" name="Text 4"/>
          <p:cNvSpPr/>
          <p:nvPr/>
        </p:nvSpPr>
        <p:spPr>
          <a:xfrm>
            <a:off x="1016000" y="1905000"/>
            <a:ext cx="1016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spc="200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ABABA UNIVERSITY · DEPARTMENT OF COMPUTER SCIENCE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16000" y="2730500"/>
            <a:ext cx="1016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63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016000" y="39624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49784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VioNER — structured extraction of African violent events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34000" y="4724400"/>
            <a:ext cx="152400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ET"/>
          </a:p>
        </p:txBody>
      </p:sp>
      <p:sp>
        <p:nvSpPr>
          <p:cNvPr id="11" name="Text 9"/>
          <p:cNvSpPr/>
          <p:nvPr/>
        </p:nvSpPr>
        <p:spPr>
          <a:xfrm>
            <a:off x="1016000" y="5461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Binalfew Kassa Mekonnen</a:t>
            </a:r>
          </a:p>
          <a:p>
            <a:pPr marL="0" indent="0" algn="ctr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Computer Science · Advisor: Dr. Fekade Getahun · June 2026</a:t>
            </a:r>
          </a:p>
        </p:txBody>
      </p:sp>
    </p:spTree>
    <p:extLst>
      <p:ext uri="{BB962C8B-B14F-4D97-AF65-F5344CB8AC3E}">
        <p14:creationId xmlns:p14="http://schemas.microsoft.com/office/powerpoint/2010/main" val="1093093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0716E9-6BC8-3C4B-80A5-9655B4689AB7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739024d-d754-412e-a4b1-59af6678b8f6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defa4170-0d19-0005-0004-bc88714345d2}" enabled="1" method="Standard" siteId="{fd2550a8-84b7-42d4-9ec6-c1aef2c7519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8897</TotalTime>
  <Words>2677</Words>
  <Application>Microsoft Macintosh PowerPoint</Application>
  <PresentationFormat>Widescreen</PresentationFormat>
  <Paragraphs>358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Discovery from Free Text: Extraction of Violent Events</dc:title>
  <dc:subject>PptxGenJS Presentation</dc:subject>
  <dc:creator>Binalfew Kassa Mekonnen</dc:creator>
  <cp:lastModifiedBy>Binalfew Kassa</cp:lastModifiedBy>
  <cp:revision>64</cp:revision>
  <dcterms:created xsi:type="dcterms:W3CDTF">2026-06-05T17:54:27Z</dcterms:created>
  <dcterms:modified xsi:type="dcterms:W3CDTF">2026-06-12T08:44:08Z</dcterms:modified>
</cp:coreProperties>
</file>